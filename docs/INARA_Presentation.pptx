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1"/>
  </p:normalViewPr>
  <p:slideViewPr>
    <p:cSldViewPr snapToGrid="0" snapToObjects="1">
      <p:cViewPr varScale="1">
        <p:scale>
          <a:sx n="115" d="100"/>
          <a:sy n="115" d="100"/>
        </p:scale>
        <p:origin x="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41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00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09728" cy="2560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2560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BBDD"/>
                </a:solidFill>
              </a:rPr>
              <a:t>NORTHEASTERN UNIVERSITY  ·  CS 6140 MACHINE LEARNING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Exploring ML Models for Detection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54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DD88"/>
                </a:solidFill>
              </a:rPr>
              <a:t>Atmospheric Composition in Exoplanets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68880"/>
            <a:ext cx="70297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CCDDFF"/>
                </a:solidFill>
              </a:rPr>
              <a:t>Machine learning–based atmospheric retrieval from transmission spectra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038" y="4810073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DD88"/>
                </a:solidFill>
              </a:rPr>
              <a:t>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038" y="5108927"/>
            <a:ext cx="640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Shantanu </a:t>
            </a:r>
            <a:r>
              <a:rPr sz="1200" b="0" i="0" dirty="0" err="1">
                <a:solidFill>
                  <a:srgbClr val="FFFFFF"/>
                </a:solidFill>
              </a:rPr>
              <a:t>Wankhare</a:t>
            </a:r>
            <a:r>
              <a:rPr sz="1200" b="0" i="0" dirty="0">
                <a:solidFill>
                  <a:srgbClr val="FFFFFF"/>
                </a:solidFill>
              </a:rPr>
              <a:t>   </a:t>
            </a:r>
            <a:r>
              <a:rPr lang="en-US" sz="1200" b="0" i="0" dirty="0">
                <a:solidFill>
                  <a:srgbClr val="FFFFFF"/>
                </a:solidFill>
              </a:rPr>
              <a:t>	</a:t>
            </a:r>
            <a:r>
              <a:rPr sz="1200" b="0" i="0" dirty="0" err="1">
                <a:solidFill>
                  <a:srgbClr val="FFFFFF"/>
                </a:solidFill>
              </a:rPr>
              <a:t>wankhare.s@northeastern.edu</a:t>
            </a:r>
            <a:endParaRPr sz="1200" b="0" i="0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31038" y="5356040"/>
            <a:ext cx="640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Bhalchandra Shinde   </a:t>
            </a:r>
            <a:r>
              <a:rPr lang="en-US" sz="1200" b="0" i="0" dirty="0">
                <a:solidFill>
                  <a:srgbClr val="FFFFFF"/>
                </a:solidFill>
              </a:rPr>
              <a:t>	</a:t>
            </a:r>
            <a:r>
              <a:rPr sz="1200" b="0" i="0" dirty="0" err="1">
                <a:solidFill>
                  <a:srgbClr val="FFFFFF"/>
                </a:solidFill>
              </a:rPr>
              <a:t>shinde.b@northeastern.edu</a:t>
            </a:r>
            <a:endParaRPr sz="1200" b="0" i="0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1038" y="5592002"/>
            <a:ext cx="640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Asad Mulani             </a:t>
            </a:r>
            <a:r>
              <a:rPr lang="en-US" sz="1200" b="0" i="0" dirty="0">
                <a:solidFill>
                  <a:srgbClr val="FFFFFF"/>
                </a:solidFill>
              </a:rPr>
              <a:t>	</a:t>
            </a:r>
            <a:r>
              <a:rPr sz="1200" b="0" i="0" dirty="0" err="1">
                <a:solidFill>
                  <a:srgbClr val="FFFFFF"/>
                </a:solidFill>
              </a:rPr>
              <a:t>mulani.a@northeastern.edu</a:t>
            </a:r>
            <a:endParaRPr sz="1200" b="0" i="0" dirty="0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91492" y="3392314"/>
            <a:ext cx="3474720" cy="475488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3446724"/>
            <a:ext cx="363418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Dataset: INARA  (NASA FDL / </a:t>
            </a:r>
            <a:r>
              <a:rPr sz="1300" b="1" i="0" dirty="0" err="1">
                <a:solidFill>
                  <a:srgbClr val="FFFFFF"/>
                </a:solidFill>
              </a:rPr>
              <a:t>Zorzan</a:t>
            </a:r>
            <a:r>
              <a:rPr sz="1300" b="1" i="0" dirty="0">
                <a:solidFill>
                  <a:srgbClr val="FFFFFF"/>
                </a:solidFill>
              </a:rPr>
              <a:t> et al. 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0185" y="535260"/>
            <a:ext cx="2904319" cy="2560320"/>
          </a:xfrm>
          <a:prstGeom prst="rect">
            <a:avLst/>
          </a:prstGeom>
          <a:solidFill>
            <a:srgbClr val="00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D6C7B7-2716-E44F-88CB-C9709EAD4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959" y="4392249"/>
            <a:ext cx="7219828" cy="213969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FF403F-1F0C-82F5-FD32-A77DB39B3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4640" y="655000"/>
            <a:ext cx="2684772" cy="23396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 — 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The intersection of scientific urgency and methodological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303520" cy="50292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55648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▸  Rocky exoplanet atmospheres reveal if a world could be habitable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▸  Co-detection of O₂ + CH₄ is a strong biosignature — signals biological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364991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▸  JWST + planned Habitable Worlds Observatory (HWO) produce spectra at unprecedented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169664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▸  Population-level surveys require analysing thousands of planets simultaneously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234440"/>
            <a:ext cx="5943600" cy="2286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3258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Traditional Bayesian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755648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✗  Nested sampling / MCMC — rigorous but slow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286000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✗  Hours to days per planet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816352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✗  Does not scale to thousands of targets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749039"/>
            <a:ext cx="5943600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3840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A0"/>
                </a:solidFill>
              </a:rPr>
              <a:t>ML-Based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4279392"/>
            <a:ext cx="5577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✓  Milliseconds per planet once trained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736592"/>
            <a:ext cx="5577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✓  Enables population-level atmospheric studies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193792"/>
            <a:ext cx="5577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✓  Active research direction (JWST era, 2022–present)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5650992"/>
            <a:ext cx="5577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</a:rPr>
              <a:t>✓  Established benchmarks exist (Márquez-Neila 2018; Vasist 2023; Gebhard 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Scientific Context — JWST &amp; Transit Spectroscopy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From telescope observations to ML-powered atmospheric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394960" cy="507492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</a:rPr>
              <a:t>Transit Spectroscopy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8308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Planet passes in front of its host star (transit event)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3288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Starlight filters through the planet's atmosphere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282696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Each molecule absorbs specific wavelengths → leaves a spectral fingerprint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032504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Transmission spectrum encodes atmospheric chemical 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782312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Benchmark: WASP-39 b (JWST, Nature 614:649, 2023) — confirmed CO₂, SO₂, H₂O, CO in a single observation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166360"/>
            <a:ext cx="5029200" cy="7772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523951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F3864"/>
                </a:solidFill>
              </a:rPr>
              <a:t>Star  ●  →  [Planet transit]  →  Spectrograph  →  Absorption dips per molecule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234440"/>
            <a:ext cx="5943600" cy="246888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0" y="13258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Why JWST Is a Game-Changer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7647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NIRSpec (0.6–5.3 µm) + MIRI (5–28 µm) — complete spectral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157984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Covers nearly every key biosignature: O₂, O₃, CH₄, H₂O, CO₂, N₂O, SO₂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551176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Launched 25 Dec 2021 — science operations began 2022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443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Will survey thousands of exoplanet atmospheres over its lifetime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3375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Population-level analysis demands millisecond-per-planet ML retrieval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3913632"/>
            <a:ext cx="5943600" cy="239572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0" y="400507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INARA → JWST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434840"/>
            <a:ext cx="5577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INARA: first large-scale ML benchmark for atmospheric retrieval (Zorzan et al. 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791455"/>
            <a:ext cx="5577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Synthetic CLIMA profiles (12 × 101) → same 12 molecules JWST observes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5148072"/>
            <a:ext cx="5577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3.1 million simulations covering F, G, K, M stellar 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504688"/>
            <a:ext cx="5577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Future: apply trained model directly to real JWST transmission spectra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5861304"/>
            <a:ext cx="5577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PSG secondary dataset (3 ch × 4,378 pts, 0.2–2.0 µm) ready for HWO spectra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Multi-output regression over molecular log₁₀ abundances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234440"/>
            <a:ext cx="10360152" cy="12801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298448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</a:rPr>
              <a:t>Given a transmission spectrum of an exoplanet's atmosphere,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</a:rPr>
              <a:t>predict the log₁₀ surface volume mixing ratios of 12 molecular species.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3474720" cy="256032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A0"/>
                </a:solidFill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Transmission Spectrum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11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12 CLIMA channels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59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101 altitude 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0682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Z-score normalised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5429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(INARA ATMOS format)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657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743200"/>
            <a:ext cx="2743200" cy="2560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00600" y="28163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D88"/>
                </a:solidFill>
              </a:rPr>
              <a:t>ML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566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FF"/>
                </a:solidFill>
              </a:rPr>
              <a:t>(baseline, ≤10k samples)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931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1D CNN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FF"/>
                </a:solidFill>
              </a:rPr>
              <a:t>(deep model, full dataset)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657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2743200"/>
            <a:ext cx="3566160" cy="256032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03920" y="2816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A0"/>
                </a:solidFill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2004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12 Molecular Abundances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611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H₂O · CO₂ · O₂ · O₃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9593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CH₄ · N₂ · N₂O · 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3068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H₂ · H₂S · SO₂ · NH₃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6542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(log₁₀ VMR at surface)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532120"/>
            <a:ext cx="11430000" cy="6400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5559552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F3864"/>
                </a:solidFill>
              </a:rPr>
              <a:t>Why log₁₀ space?  Mixing ratios span ~12 orders of magnitude (~0.1 for N₂ to 10⁻⁴⁰ for trace species). Log₁₀ makes the prediction scale uniform — an error of 1.0 means 'off by one order of magnitude'.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— INARA (NASA FDL / Zorzan et al.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3.1 million synthetic rocky planet spectra from NASA Planetary Spectrum Generator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303520" cy="3405359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</a:rPr>
              <a:t>Dataset 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67157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Full dataset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7157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3,112,620 synthetic CLIMA profiles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480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This project 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04803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25,000 samples (local dev run; full 3.1M on HPC)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469105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Profile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9105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INARA ATMOS — CLIMA atmospheric 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5708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Altitude levels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957083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101 per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1124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Input channels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31124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12 CLIMA variables (T, P, 10 molecules)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72116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Stellar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721163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F, G, K, M — 4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1087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1087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CSV per planet → .npy arrays after processing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97880" y="1234440"/>
            <a:ext cx="5943600" cy="2514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13258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</a:rPr>
              <a:t>CLIMA Input Channels (12)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755648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61888" y="182880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 / 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179222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Temperature &amp; Pressure profiles — primary physical state of the atmosphere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2414015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61888" y="248716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10 mol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45059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H₂O, CO₂, O₂, O₃, CH₄, N₂, N₂O, CO, H₂, H₂S — altitude-resolved mixing ratios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072384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61888" y="31455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Norm.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31089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All 12 channels Z-score normalised per channel (fit on train only)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66501" y="3931920"/>
            <a:ext cx="4774979" cy="2551176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09194" y="4023360"/>
            <a:ext cx="39999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F3864"/>
                </a:solidFill>
              </a:rPr>
              <a:t>12 Target Molecules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3474" y="44622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A6BA0"/>
                </a:solidFill>
              </a:rPr>
              <a:t>Habitability: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3674" y="4462272"/>
            <a:ext cx="16838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H₂O · CO₂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474" y="48646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Biosignatures: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674" y="4864608"/>
            <a:ext cx="16838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O₂ · O₃ · CH₄ · N₂O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63474" y="52669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F5496"/>
                </a:solidFill>
              </a:rPr>
              <a:t>Background: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674" y="5266944"/>
            <a:ext cx="18098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N₂ · H₂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474" y="56692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75486"/>
                </a:solidFill>
              </a:rPr>
              <a:t>Geochemical: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674" y="5669280"/>
            <a:ext cx="18098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 · H₂S · SO₂ · NH₃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FD55B9C-87B4-45BF-8A60-2401AFB3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11061"/>
            <a:ext cx="6655021" cy="18067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 Pipeline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Five-stage structured pipeline — each step produces reusable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34440"/>
            <a:ext cx="201168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" y="12984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tar.gz → .npy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234440"/>
            <a:ext cx="2011680" cy="137160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79192" y="12984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Feature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Split + Norm + PCA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234440"/>
            <a:ext cx="2011680" cy="137160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56632" y="12984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Baseline 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10k-capped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234440"/>
            <a:ext cx="2011680" cy="1371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34072" y="12984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Deep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Full-data 1D CNN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234440"/>
            <a:ext cx="2011680" cy="1371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11512" y="12984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Evaluate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Unified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834640"/>
            <a:ext cx="11612880" cy="3383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29077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Step 2 Deep Dive — Feature Engineering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364992"/>
            <a:ext cx="2651760" cy="26517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1208" y="343814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70 / 15 / 15 Split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Deterministic (seed=42)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26110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Fixed once — both models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6817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use identical test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0235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Saved as train/val/test_indices.npy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3364992"/>
            <a:ext cx="2651760" cy="26517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01568" y="343814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Z-Score Normalisation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38404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Per CLIMA channel (12 channels)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426110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Fit on train set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6817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Prevents data leakage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0" y="510235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Saved as scaler.joblib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3364992"/>
            <a:ext cx="2651760" cy="26517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81928" y="343814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PCA (RF only)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38404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Flatten: 12×101 → 1212 features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26110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Reduce to 300 components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6817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Retains 100% variance (25k dataset rank-limited)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10235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Saved as pca.joblib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52559" y="3364992"/>
            <a:ext cx="2651760" cy="265176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62287" y="343814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Deep Model Input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9719" y="38404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Raw 2D tensor (12 × 101)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9719" y="426110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No PCA — CNN learns features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19" y="46817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Z-normalised spectra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9719" y="510235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· Stored as spectra_train.npy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Baseline Model —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12 independent RandomForestRegressors on PCA-reduced features (≤ 10,000 training samples)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303520" cy="51206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64792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Input: PCA features (N, 300)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40280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One RandomForestRegressor per molecule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1576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12 completely independent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191256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▸  Prediction: column-stack 12 scalars → (N, 12)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947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Why per-molecule?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Each molecule has different prediction difficulty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617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Independent tuning of depth / n_estimators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▸  Failing molecule doesn't affect others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8640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Why 10k cap?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338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RF is the fast baseline — &lt;1 min training, no GPU needed. Fair comparison point.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234440"/>
            <a:ext cx="6126480" cy="507492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0" y="132588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</a:rPr>
              <a:t>Per-Molecule Hyperparameters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755648"/>
            <a:ext cx="685800" cy="337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159" y="1792224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1755648"/>
            <a:ext cx="713232" cy="337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59" y="1792224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Trees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5472" y="1755648"/>
            <a:ext cx="658368" cy="337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51192" y="1792224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Depth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1755648"/>
            <a:ext cx="713232" cy="337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09560" y="1792224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max_feat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7072" y="1755648"/>
            <a:ext cx="2560320" cy="337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22792" y="1792224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Rationale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2093272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59" y="2129848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H₂O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2093272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59" y="2129848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05472" y="2093272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51192" y="2129848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093272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09560" y="2129848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77072" y="2093272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22792" y="2129848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2430897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59" y="2467473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CO₂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430897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37959" y="2467473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05472" y="2430897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251192" y="2467473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3840" y="2430897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09560" y="2467473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77072" y="2430897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622792" y="2467473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2768521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852159" y="2805097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O₂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768521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7959" y="2805097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05472" y="2768521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251192" y="2805097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768521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909560" y="2805097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77072" y="2768521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622792" y="2805097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06440" y="3106146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852159" y="3142722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O₃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92240" y="3106146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537959" y="3142722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05472" y="3106146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251192" y="3142722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63840" y="3106146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909560" y="3142722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77072" y="3106146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622792" y="3142722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3443771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852159" y="3480347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CH₄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92240" y="3443771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537959" y="3480347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205472" y="3443771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51192" y="3480347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863840" y="3443771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909560" y="3480347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77072" y="3443771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622792" y="3480347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06440" y="3781395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852159" y="3817971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N₂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3781395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537959" y="3817971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05472" y="3781395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251192" y="3817971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863840" y="3781395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909560" y="3817971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577072" y="3781395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622792" y="3817971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06440" y="4119020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852159" y="4155596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N₂O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92240" y="4119020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537959" y="4155596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205472" y="4119020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251192" y="4155596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119020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909560" y="4155596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77072" y="4119020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22792" y="4155596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06440" y="4456644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852159" y="4493220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CO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92240" y="4456644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537959" y="4493220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205472" y="4456644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251192" y="4493220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63840" y="4456644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909560" y="4493220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77072" y="4456644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622792" y="4493220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806440" y="4794269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852159" y="4830845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H₂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492240" y="4794269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537959" y="4830845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05472" y="4794269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7251192" y="4830845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863840" y="4794269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909560" y="4830845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577072" y="4794269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622792" y="4830845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806440" y="5131894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5852159" y="5168470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H₂S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492240" y="5131894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537959" y="5168470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205472" y="5131894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7251192" y="5168470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63840" y="5131894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7909560" y="5168470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577072" y="5131894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622792" y="5168470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806440" y="5469518"/>
            <a:ext cx="68580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5852159" y="5506094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SO₂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492240" y="5469518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537959" y="5506094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205472" y="5469518"/>
            <a:ext cx="658368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7251192" y="5506094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863840" y="5469518"/>
            <a:ext cx="713232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909560" y="5506094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77072" y="5469518"/>
            <a:ext cx="2560320" cy="33762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8622792" y="5506094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806440" y="5807143"/>
            <a:ext cx="68580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5852159" y="5843719"/>
            <a:ext cx="594360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NH₃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92240" y="5807143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537959" y="5843719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205472" y="5807143"/>
            <a:ext cx="658368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7251192" y="5843719"/>
            <a:ext cx="566928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863840" y="5807143"/>
            <a:ext cx="713232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09560" y="5843719"/>
            <a:ext cx="621792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sqrt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77072" y="5807143"/>
            <a:ext cx="2560320" cy="337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622792" y="5843719"/>
            <a:ext cx="2468879" cy="291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Uniform — intentional minimal baseline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Deep Model — 1D CNN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Sequential convolutional backbone + 12 per-molecule output heads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13941"/>
            <a:ext cx="2148840" cy="484631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68880" y="1713941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931920" y="1713941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1768805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768805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12, 101)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1768805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Normalised CLIMA profile — 12 channels × 101 altitude levels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235149"/>
            <a:ext cx="2148840" cy="48463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68880" y="2235149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931920" y="2235149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2290013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290013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32, 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5072" y="2290013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Conv1d(12→32, k=9, s=2, p=4)  +  BatchNorm  +  ReLU  +  MaxPool1d(2)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756357"/>
            <a:ext cx="2148840" cy="48463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68880" y="2756357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931920" y="2756357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2811221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2811221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64, 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5072" y="2811221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Conv1d(32→64, k=7, s=2, p=3)  +  BatchNorm  +  ReLU  +  MaxPool1d(2)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277565"/>
            <a:ext cx="2148840" cy="484631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468880" y="3277565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31920" y="3277565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" y="3332429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332429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128, 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5072" y="3332429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Conv1d(64→128, k=5, s=2, p=2)  +  BatchNorm  +  ReLU  +  MaxPool1d(2)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98773"/>
            <a:ext cx="2148840" cy="484631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3798773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931920" y="3798773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" y="3853637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53637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256,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05072" y="3853637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Conv1d(128→256, k=3, s=1, p=1)  +  BatchNorm  +  ReLU  (no MaxPool)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19980"/>
            <a:ext cx="2148840" cy="484631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68880" y="4319980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931920" y="4319980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4374844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GlobalAvgPool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374844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256)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374844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AdaptiveAvgPool1d(1) + Flatten — squeeze altitude dimension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41189"/>
            <a:ext cx="2148840" cy="484631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468880" y="4841189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931920" y="4841189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7472" y="4896052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Shared FC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896052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128)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05072" y="4896052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Dropout(0.25)  +  FC(256→128)  +  LayerNorm  +  ReLU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362397"/>
            <a:ext cx="2148840" cy="484631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68880" y="5362397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931920" y="5362397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47472" y="5417260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12 × 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5417260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05072" y="5417260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Per-molecule MLP: FC(128→hidden→1)  +  LN  +  ReLU  +  Dropout → scalar log₁₀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1649933"/>
            <a:ext cx="214884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468880" y="1649933"/>
            <a:ext cx="141732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931920" y="1649933"/>
            <a:ext cx="7955279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7472" y="132431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Layer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14600" y="132431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</a:rPr>
              <a:t>Output shape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05072" y="132431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Description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171394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A0"/>
                </a:solidFill>
              </a:rPr>
              <a:t>Conv Block: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1988261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Conv1d (k,s,p)
+ BatchNorm1d
+ ReLU
+ MaxPool1d(2)
[Block 4: no MaxPool]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Deep Model — Key Design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Every design decision is motivated by the data's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64208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1D Convolutions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2821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CLIMA profiles are 1D sequences over altitude. 1D CNNs detect local patterns (e.g. temperature inversion at levels 20–30) and learn hierarchical altitude features across multiple scales — something PCA cannot 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642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Progressive Downsampling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2821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Four conv blocks with decreasing kernel sizes (9→7→5→3) and stride-2 + MaxPool compress 101 altitude levels down to 1. Each block doubles channel depth, building increasingly abstract representations of the atmospheric profile.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1752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109728" cy="166420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127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Shared Backbone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51129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The CNN backbone learns general atmospheric representations useful for all 12 molecules simultaneously — multi-task learning. The shared 128-d embedding carries information about atmospheric state that each head then specialises.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017520"/>
            <a:ext cx="109728" cy="1664208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127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5486"/>
                </a:solidFill>
              </a:rPr>
              <a:t>Per-Molecule Heads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51129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Each molecule has its own MLP head with tuned depth and dropout. Trace species (H₂S, SO₂, NH₃) get higher dropout (0.25) to prevent overfitting. Stable species (CO₂, O₂) get lighter heads with lower dropout (0.15).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0060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800600"/>
            <a:ext cx="109728" cy="166420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910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Weighted MSE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29437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Standard MSE would let easy molecules dominate. Weights (1.0–2.0) upweight trace species (SO₂, NH₃ at 2.0). Targets are Z-score normalised before training (MoleculeScaler) to equalise loss scale — inverse-transformed for evaluation.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80060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800600"/>
            <a:ext cx="109728" cy="16642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910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5555"/>
                </a:solidFill>
              </a:rPr>
              <a:t>Gaussian Noise Augmentation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294376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Adding noise std=0.01 to training profiles prevents memorisation of exact profile values. Forces the CNN to learn robust features that generalise to unseen atmospheric states — analogous to image augmentation in vision CNNs.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Training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AdamW · Cosine LR schedule · Early stopping · Gradient clipping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212080" cy="507492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Training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83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13969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1396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 × 10⁻³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496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963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 × 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8529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8529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CosineAnnealingLR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095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T_max / eta_min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0954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150 / 1 × 10⁻⁶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Max epochs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66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9227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Early stop patience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92277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30 epochs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793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Min delta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279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 × 10⁻⁵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636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6360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32 (train) / 64 (eval)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9926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Grad clip norm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9926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5.0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Noise augmentation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std = 0.01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57058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Dataset (train)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7058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17,500 samples (25k run)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062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</a:rPr>
              <a:t>Target normalisation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60624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Z-score per molecule (MoleculeScaler)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1234440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760720" y="1234440"/>
            <a:ext cx="91440" cy="1170432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0" y="13258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AdamW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691640"/>
            <a:ext cx="5760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Adam with decoupled weight decay — L2 regularisation is applied directly to weights, independent of the adaptive gradient. Better generalisation than standard Adam.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2496312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760720" y="2496312"/>
            <a:ext cx="91440" cy="117043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0" y="25877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Cosine Annealing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2953512"/>
            <a:ext cx="5760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LR starts at 1e-3, smoothly decays to 1e-6 following a cosine curve. No sharp drops. Naturally slows near minima to avoid oscillation.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3758183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760720" y="3758183"/>
            <a:ext cx="91440" cy="1170432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43600" y="3849623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Early Stopping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215383"/>
            <a:ext cx="5760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Monitors val_loss. If no improvement &gt; 1e-5 for 30 epochs, training stops and the best checkpoint is restored — prevents overfitting at zero extra cost.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0720" y="5020056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760720" y="5020056"/>
            <a:ext cx="91440" cy="1170432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600" y="511149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5486"/>
                </a:solidFill>
              </a:rPr>
              <a:t>Gradient Clipping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5477256"/>
            <a:ext cx="5760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If gradient norm &gt; 5.0, all gradients are scaled down proportionally. Prevents exploding gradient spikes that destabilise early 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Evaluation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Held-out test set · Per-molecule R², RMSE, MAE · Unified comparison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3749039" cy="251460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R²
Coefficient of Determination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6BA0"/>
                </a:solidFill>
              </a:rPr>
              <a:t>1 − Σ(y − ŷ)² / Σ(y − ȳ)²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Primary metric. Scale-normalised — 0.75 means '75% of variance explained' regardless of molecule. Enables fair cross-molecule comparison. R² &lt; 0 means worse than predicting the mean.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234440"/>
            <a:ext cx="3749039" cy="2514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RMSE
Root Mean Squared Error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</a:rPr>
              <a:t>√[Σ(y − ŷ)² / 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 log₁₀ units (orders of magnitude). Penalises large errors more than MAE. A RMSE of 0.5 means predictions are typically ½ an order of magnitude 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34440"/>
            <a:ext cx="3749039" cy="2514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MAE
Mean Absolute 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F5496"/>
                </a:solidFill>
              </a:rPr>
              <a:t>Σ|y − ŷ| /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Also in log₁₀ units. More robust to outliers than RMSE. Complementary to RMSE — if RMSE &gt;&gt; MAE, there are a few large prediction errors dominating.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1612880" cy="2240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0050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Evaluation Fairness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434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Same test set: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434840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Both models evaluated on the identical 3,750-sample test split, fixed in Step 2 with seed=42. Scores are directly comparable.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434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Intentionally asymmetric training: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34840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RF uses 10k samples; CNN uses 17.5k. The comparison is baseline vs deep model — not equal-data ablation.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5056631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Per-molecule granularity: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056631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Reporting R²/RMSE/MAE for each of 12 molecules reveals which species each model handles well or poorly.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056631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Mean R² summary: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056631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Unweighted mean across 12 molecules provides a single-number comparison. NH₃ and N₂ drag it down for both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— Per-Molecule Test R²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Test set: 3,750 samples — identical for both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239" y="1457460"/>
            <a:ext cx="100584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8815" y="149403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Molecule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38079" y="1457460"/>
            <a:ext cx="118872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74655" y="149403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Baseline R²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6799" y="1457460"/>
            <a:ext cx="109728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63375" y="149403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CNN R²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079" y="1457460"/>
            <a:ext cx="91440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60655" y="149403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ΔR²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479" y="1457460"/>
            <a:ext cx="493776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75055" y="149403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Interpretation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239" y="1777500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8815" y="181407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H₂O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079" y="177750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974655" y="181407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+0.4859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26799" y="177750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63375" y="181407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079" y="177750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60655" y="181407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+0.51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38479" y="1777500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75055" y="181407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(+105%) — low variance makes R² sensitive; CNN tracks 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2239" y="2097539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8815" y="2134115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CO₂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8079" y="2097539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974655" y="2134115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+0.8797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26799" y="2097539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63375" y="2134115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079" y="2097539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60655" y="2134115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38479" y="2097539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75055" y="2134115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RF already strong; CNN near-perfect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239" y="2417580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68815" y="245415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O₂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38079" y="241758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974655" y="245415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+0.7344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6799" y="241758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163375" y="245415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24079" y="241758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60655" y="245415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38479" y="2417580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75055" y="245415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strong +26% gain; CNN captures O₂ altitude structure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239" y="2737620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8815" y="277419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O₃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38079" y="273762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974655" y="277419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+0.7424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26799" y="273762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163375" y="277419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24079" y="273762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60655" y="277419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38479" y="2737620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175055" y="277419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key biosignature; both models strong, CNN near-perfect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2239" y="3057660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68815" y="309423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CH₄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38079" y="305766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974655" y="309423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+0.9359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26799" y="305766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163375" y="309423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+1.0000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079" y="305766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60655" y="309423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+0.06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38479" y="3057660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175055" y="309423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RF already excellent; CNN achieves near-perfect retrieval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2239" y="3377699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68815" y="341427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N₂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38079" y="3377699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974655" y="341427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+0.7352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26799" y="3377699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163375" y="341427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+0.9988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24079" y="3377699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260655" y="341427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+0.26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138479" y="3377699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175055" y="341427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+26% gain; RF underestimates N₂ fine structure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239" y="3697740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68815" y="373431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N₂O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38079" y="369774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974655" y="373431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+0.7771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26799" y="369774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163375" y="373431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24079" y="369774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260655" y="373431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+0.22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38479" y="3697740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175055" y="373431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CNN significantly outperforms RF (+22%)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2239" y="4017780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68815" y="405435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CO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938079" y="401778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974655" y="405435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+0.9388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126799" y="401778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163375" y="405435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+1.0000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24079" y="401778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260655" y="405435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+0.06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138479" y="4017780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5175055" y="405435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both models strong; CNN achieves near-perfect retrieval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32239" y="4337820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68815" y="437439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H₂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38079" y="433782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974655" y="437439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+0.7434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126799" y="433782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163375" y="437439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+0.9981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24079" y="433782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60655" y="437439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+0.25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138479" y="4337820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5175055" y="437439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CNN captures H₂ altitude structure (+25%)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32239" y="4657860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68815" y="469443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H₂S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938079" y="4657860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1974655" y="469443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+0.9379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126799" y="4657860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163375" y="469443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224079" y="4657860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4260655" y="469443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+0.06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138479" y="4657860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5175055" y="469443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both very strong; CNN near-perfect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32239" y="4977899"/>
            <a:ext cx="100584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968815" y="5014475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SO₂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938079" y="4977899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1974655" y="5014475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+0.8985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126799" y="4977899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3163375" y="5014475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+0.9998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224079" y="4977899"/>
            <a:ext cx="9144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4260655" y="5014475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BA0"/>
                </a:solidFill>
              </a:rPr>
              <a:t>+0.10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138479" y="4977899"/>
            <a:ext cx="493776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175055" y="5014475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Deep wins — strong RF baseline; CNN near-perfect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32239" y="5297939"/>
            <a:ext cx="1005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968815" y="5334515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NH₃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38079" y="5297939"/>
            <a:ext cx="1188720" cy="3200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974655" y="5334515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+1.0000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126799" y="5297939"/>
            <a:ext cx="10972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3163375" y="5334515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+1.0000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224079" y="5297939"/>
            <a:ext cx="914400" cy="3200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4260655" y="5334515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F5496"/>
                </a:solidFill>
              </a:rPr>
              <a:t>+0.00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138479" y="5297939"/>
            <a:ext cx="49377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5175055" y="5334515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Both predict constant −40 (log-floor) — degenerate but consistent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32239" y="5617980"/>
            <a:ext cx="100584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968815" y="5654556"/>
            <a:ext cx="93268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MEAN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938079" y="5617980"/>
            <a:ext cx="118872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974655" y="5654556"/>
            <a:ext cx="11155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+0.8174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126799" y="5617980"/>
            <a:ext cx="109728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3163375" y="5654556"/>
            <a:ext cx="102412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+0.9994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224079" y="5617980"/>
            <a:ext cx="91440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4260655" y="5654556"/>
            <a:ext cx="8412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+0.18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138479" y="5617980"/>
            <a:ext cx="493776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5175055" y="5654556"/>
            <a:ext cx="4864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Overall: CNN near-perfect — +22% mean R² improvement over RF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Findings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What the results tell us about ML-based atmospheric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57276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🌟  Deep model wins on all 12 molecules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3736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The 1D CNN outperforms or matches the RF on every molecule. 11/12 molecules reach R²&gt;0.998 — near-perfect atmospheric retrieval from CLIMA profiles.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572768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A0"/>
                </a:solidFill>
              </a:rPr>
              <a:t>📈  Largest relative gains: H₂O, O₂, O₃, N₂, H₂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3736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H₂O (+105%), O₂ (+36%), O₃ (+35%), N₂ (+36%), H₂ (+34%) — CNN's spatial feature extraction captures altitude-dependent patterns that flat PCA vectors cannot encode.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2608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26080"/>
            <a:ext cx="109728" cy="1572768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017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5486"/>
                </a:solidFill>
              </a:rPr>
              <a:t>🏆  RF baseline also very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Mean RF R²=0.82 — the baseline is no longer weak. CH₄ (0.94), CO (0.94), H₂S (0.94) are already well-predicted by PCA + RF. CNN adds consistent improvement on top.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2608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926080"/>
            <a:ext cx="109728" cy="15727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17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🔬  All biosignatures near-perfectly retrieved by 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O₂ (0.999), O₃ (0.999), CH₄ (1.000), N₂O (0.999) — every molecule relevant to the search for life is retrieved near-perfectly. Critical validation for JWST science.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1772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09728" cy="157276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⚠️  NH₃ — degenerate, not physically learnable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2064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R²=1.0 for both models because all samples are at the log-floor (−40). Both models predict −40 always — correct but scientifically meaningless.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1772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617720"/>
            <a:ext cx="109728" cy="157276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</a:rPr>
              <a:t>💡  Multi-task learning amplifies CNN advantage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2064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The shared backbone trains on all 12 targets simultaneously. Cross-molecule correlations (O₂/O₃, H₂O/CH₄ co-variation) are encoded in the 128-d shared embedding, giving the CNN a structural advantage the RF cannot replicate.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Comparison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Baseline RF vs 1D CNN — design, compute, and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2743200" cy="38686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271016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Aspect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234440"/>
            <a:ext cx="4389120" cy="38686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39" y="1271016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Random Forest (Baseline)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234440"/>
            <a:ext cx="4389120" cy="38686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1271016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1D CNN (Deep)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621301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657877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Architecture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1621301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63239" y="1657877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12 independent RFs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1621301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52360" y="1657877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1D CNN + 12 heads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08163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2044739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Input 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008163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63239" y="2044739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Flat PCA vector (300-d)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008163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52360" y="2044739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2D tensor (12 × 101)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95024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2431600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Feature extraction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395024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63239" y="2431600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PCA — linear, pre-computed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2395024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52360" y="2431600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Learned convolutional filters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781886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2818462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Multi-task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2781886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63239" y="2818462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None — fully independent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06640" y="2781886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452360" y="2818462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Yes — shared backbone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168747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3205323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Training samples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168747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39" y="3205323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10,000 (hard cap)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168747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452360" y="3205323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17,500 (full training split)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555609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040" y="3592185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Training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555609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063239" y="3592185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&lt; 1 min (CPU)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3555609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52360" y="3592185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10–20 min (MPS/GPU)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942470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3979046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Parameters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42470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63239" y="3979046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Non-parametric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6640" y="3942470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52360" y="3979046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~2 million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329332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20040" y="4365908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GPU required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329332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063239" y="4365908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06640" y="4329332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52360" y="4365908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Recommended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716193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752769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Interpretability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716193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063239" y="4752769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Feature importance available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06640" y="4716193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452360" y="4752769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Black box (lower)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103055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0040" y="5139631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Mean test R²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5103055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063239" y="5139631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0.82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06640" y="5103055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52360" y="5139631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1.00  (+22% relative)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5489916"/>
            <a:ext cx="274320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0040" y="5526492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Best molecule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489916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063239" y="5526492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CO / CH₄ / H₂S  R²=0.94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06640" y="5489916"/>
            <a:ext cx="4389120" cy="38686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452360" y="5526492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CH₄ / CO  R²=1.000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876778"/>
            <a:ext cx="274320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20040" y="5913354"/>
            <a:ext cx="265176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Worst molecule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017520" y="5876778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63239" y="5913354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H₂O  R²=0.49  (low-variance)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406640" y="5876778"/>
            <a:ext cx="43891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452360" y="5913354"/>
            <a:ext cx="4297680" cy="34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H₂  R²=0.998  (excl. NH₃)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Challenges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Honest assessment of what works and what doesn't —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Data scale vs 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Full INARA has 3.1M spectra. We used 25k for local dev runs; full 124k+ runs on HPC (~10 GB processed). Extraction from 10 tar.gz archives via sequential single-pass scan takes ~10–15 min even on an M5 Pro.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0934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NH₃ — not learnable from CLIMA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NH₃ values are at the log-floor (−40) for nearly all samples in this dataset. The model learns to predict −40 reliably but that's a degenerate solution, not physical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53512"/>
            <a:ext cx="109728" cy="1609344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A0"/>
                </a:solidFill>
              </a:rPr>
              <a:t>H₂O R² — low-variance artefact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H₂O R²=0.49 (RF) despite RMSE≈0.0001. Near-zero variance (std≈0.0002) inflates the R² denominator — RMSE is the reliable metric here. The CNN achieves R²=0.999 by tracking the tiny residual variance the RF misses.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953512"/>
            <a:ext cx="109728" cy="1609344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5486"/>
                </a:solidFill>
              </a:rPr>
              <a:t>Asymmetric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The RF uses 10k training samples; the CNN uses 17.5k (25k run). The R² improvement is partly attributable to more data, not purely to the architecture. A data-equal ablation would isolate the architecture contribution.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672583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NH₃ — degenerate, not learnable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NH₃ is at the log-floor (−40) for all samples. Both models predict −40 always, achieving R²=1.0 trivially. The molecule is retained for schema compatibility with the full INARA benchmark but is scientifically uninformative.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672583"/>
            <a:ext cx="109728" cy="16093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</a:rPr>
              <a:t>Real data validation pending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All experiments are on synthetic INARA spectra. Domain transfer to real JWST spectra has not been validated — a critical next step before any scientific claims.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</a:rPr>
              <a:t>Extending this project toward real-world scientific applicability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09344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A0"/>
                </a:solidFill>
              </a:rPr>
              <a:t>🔭  JWST Domain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Test trained models on real JWST transmission spectra and compare predictions to published Bayesian retrievals. Key validation step for scientific credibility.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0934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📊  Full 3.1M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Train the CNN on the complete INARA dataset using Northeastern Explorer HPC. Expected improvement in R² for high-variance molecules like H₂O and CH₄.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53512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🧠  Uncertainty Quantification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Add Monte Carlo Dropout or deep ensembles to provide calibrated confidence intervals — critical for scientific use (e.g. 'O₂ = −0.7 ± 0.2 log₁₀').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953512"/>
            <a:ext cx="109728" cy="1609344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5486"/>
                </a:solidFill>
              </a:rPr>
              <a:t>🔬  Attention / Transformer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Replace or augment the CNN with a 1D Transformer to learn long-range altitude-level dependencies. Self-attention may capture non-local atmospheric correlations that convolutions miss.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672583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⚖️  Equal-Data Ablation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Train the RF baseline on the same sample count as the CNN to cleanly isolate the architecture benefit from the data quantity benefit.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672583"/>
            <a:ext cx="109728" cy="16093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</a:rPr>
              <a:t>🌍  Four Stellar Types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Stratify analysis by stellar type (F, G, K, M). M-dwarf planets dominate current JWST targets — a model tuned for M stars may outperform a general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BBDD"/>
                </a:solidFill>
              </a:rPr>
              <a:t>CS 6140 · Machine Learning · Northeastern University ·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0972800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727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6276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We built an end-to-end ML pipeline  for exoplanet atmospheric retrieval — from raw synthetic CLIMA profiles to per-molecule R²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585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23134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134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Two models were compared:  Random Forest baseline (PCA + 12 independent RFs) and 1D CNN (shared backbone + 12 heads).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443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2999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99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CNN achieves mean R² = 0.999  vs baseline 0.82 — a +22% relative improvement — 11/12 molecules retrieved near-perfectly.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01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68503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68503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All biosignatures near-perfectly retrieved:  O₂ (0.999), O₃ (0.999), CH₄ (1.000), N₂O (0.999) — directly relevant to the search for life.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159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" y="437083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7083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ML retrieval is viable and fast:  milliseconds per planet vs. hours for Bayesian methods — enabling population-level JWST surveys.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01768"/>
            <a:ext cx="457200" cy="5303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505663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05663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Next step — real JWST data:  validate on actual observations and add uncertainty quantification for scientific deployment.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ABBDD"/>
                </a:solidFill>
              </a:rPr>
              <a:t>Shantanu Wankhare  ·  Bhalchandra Shinde  ·  Asad Mulani   |   Dataset: INARA (NASA FDL / Zorzan et al. 2025)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" y="1380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4416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Zorzan et al. (2025)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63624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INARA: A Machine Learning Dataset for Exoplanet Atmospheric Retrieval. NASA FDL / Exoplanet Archive.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0" y="1325880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61320" y="139903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Dataset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38528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" y="19933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95681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He et al. (2016)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76272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Deep Residual Learning for Image Recognition. CVPR 2016.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1938528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1320" y="2011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Background: residual connections (not used — cited for gradient flow context)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551176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" y="2606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56946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Loshchilov &amp; Hutter (2019)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Decoupled Weight Decay Regularisation. ICLR 2019.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2551176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61320" y="262432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AdamW optimizer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63824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2608" y="32186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[4]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18211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Breiman (2001)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401568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Random Forests. Machine Learning, 45(1), 5–32.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163824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32369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Random Forest baseline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776472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" y="3831335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[5]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794759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Márquez-Neila et al. (2018)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014215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Supervised machine learning for analysing spectra of exoplanetary atmospheres. Nature Astronomy.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0" y="3776472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61320" y="38496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ML retrieval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38912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2608" y="44439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[6]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7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Vasist et al. (2023)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626864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Neural posterior estimation for exoplanetary atmospheric retrieval. A&amp;A, 672.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515600" y="4389120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561320" y="44622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Deep learning retrieval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001768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2608" y="5056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[7]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02005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Gebhard et al. (2024)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239512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Simulation-based inference for exoplanet atmospheric retrievals. A&amp;A.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0" y="5001768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561320" y="507492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SBI retrieval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14416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2608" y="5669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[8]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563270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JWST ERS Team (2023)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" y="5852160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Identification of carbon dioxide in an exoplanet atmosphere. Nature 614:649.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5614416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561320" y="56875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WASP-39 b — first JWST exoplanet spectrum; confirmed CO₂, SO₂, H₂O, CO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227064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2608" y="62819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[9]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62453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LeCun et al. (1989)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" y="6464808"/>
            <a:ext cx="9601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Backpropagation Applied to Handwritten Zip Code Recognition. Neural Computation.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15600" y="6227064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561320" y="630021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Foundational convolutional network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4079</Words>
  <Application>Microsoft Macintosh PowerPoint</Application>
  <PresentationFormat>Custom</PresentationFormat>
  <Paragraphs>550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Bhalchandra Shinde</cp:lastModifiedBy>
  <cp:revision>7</cp:revision>
  <dcterms:created xsi:type="dcterms:W3CDTF">2013-01-27T09:14:16Z</dcterms:created>
  <dcterms:modified xsi:type="dcterms:W3CDTF">2026-04-10T17:00:06Z</dcterms:modified>
  <cp:category/>
</cp:coreProperties>
</file>