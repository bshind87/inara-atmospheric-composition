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9" r:id="rId3"/>
    <p:sldId id="259" r:id="rId4"/>
    <p:sldId id="260" r:id="rId5"/>
    <p:sldId id="261" r:id="rId6"/>
    <p:sldId id="262" r:id="rId7"/>
    <p:sldId id="276" r:id="rId8"/>
    <p:sldId id="278" r:id="rId9"/>
    <p:sldId id="264" r:id="rId10"/>
    <p:sldId id="263" r:id="rId11"/>
    <p:sldId id="265" r:id="rId12"/>
    <p:sldId id="266" r:id="rId13"/>
    <p:sldId id="277" r:id="rId14"/>
    <p:sldId id="268" r:id="rId15"/>
    <p:sldId id="269" r:id="rId16"/>
    <p:sldId id="270" r:id="rId17"/>
    <p:sldId id="271" r:id="rId18"/>
    <p:sldId id="272" r:id="rId19"/>
    <p:sldId id="273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85"/>
    <p:restoredTop sz="94661"/>
  </p:normalViewPr>
  <p:slideViewPr>
    <p:cSldViewPr snapToGrid="0" snapToObjects="1">
      <p:cViewPr varScale="1">
        <p:scale>
          <a:sx n="163" d="100"/>
          <a:sy n="163" d="100"/>
        </p:scale>
        <p:origin x="1112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3CE5-DE27-0E49-A95E-30A34E014C0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E4DBB-86B1-9946-8F96-01A27063B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06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E4DBB-86B1-9946-8F96-01A27063BB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9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E4DBB-86B1-9946-8F96-01A27063BB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3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E293-AB49-DD40-AD30-89E3C0F51041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1DC6-D445-554B-A7B6-F065B6D30B1A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0322-C405-444C-BF97-E4A2628AC3D1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1F99-CA5E-2444-B2ED-8951A7B04C9A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5C31-5495-2A44-9AC8-84456F509CB4}" type="datetime1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6889-48B9-264E-8EAE-B30A77557B63}" type="datetime1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F757-DA19-C349-A98B-E62A393AA2AC}" type="datetime1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43469-3334-EF40-8341-C9EAD5DB0CDA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3B6F-2304-5E49-9B83-174F606369CA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81740-BE2D-A949-ABC0-306D5C620A27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B636-3174-7D40-BE14-BF800E4DDF12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13E21-3317-B04F-8A86-90A6CE3C709F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41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D7E0B-480B-C5F3-91F3-1F18EDD6B318}"/>
              </a:ext>
            </a:extLst>
          </p:cNvPr>
          <p:cNvSpPr/>
          <p:nvPr/>
        </p:nvSpPr>
        <p:spPr>
          <a:xfrm>
            <a:off x="8323605" y="3327797"/>
            <a:ext cx="3634182" cy="461227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56032"/>
            <a:ext cx="51643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chemeClr val="tx2">
                    <a:lumMod val="20000"/>
                    <a:lumOff val="80000"/>
                  </a:schemeClr>
                </a:solidFill>
              </a:rPr>
              <a:t>NORTHEASTERN UNIVERSITY  ·  CS 6140 MACHINE LEARNING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773" y="1526663"/>
            <a:ext cx="752591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Exploring ML Models for Detection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73" y="2103135"/>
            <a:ext cx="770879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DD88"/>
                </a:solidFill>
              </a:rPr>
              <a:t>Atmospheric Composition in Exoplanets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940101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DD88"/>
                </a:solidFill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242295"/>
            <a:ext cx="37605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Shantanu </a:t>
            </a:r>
            <a:r>
              <a:rPr sz="1050" b="0" i="0" dirty="0" err="1">
                <a:solidFill>
                  <a:srgbClr val="FFFFFF"/>
                </a:solidFill>
              </a:rPr>
              <a:t>Wankhare</a:t>
            </a:r>
            <a:r>
              <a:rPr sz="1050" b="0" i="0" dirty="0">
                <a:solidFill>
                  <a:srgbClr val="FFFFFF"/>
                </a:solidFill>
              </a:rPr>
              <a:t>   </a:t>
            </a:r>
            <a:r>
              <a:rPr lang="en-US" sz="1050" b="0" i="0" dirty="0">
                <a:solidFill>
                  <a:srgbClr val="FFFFFF"/>
                </a:solidFill>
              </a:rPr>
              <a:t>	</a:t>
            </a:r>
            <a:r>
              <a:rPr sz="1050" b="0" i="0" dirty="0" err="1">
                <a:solidFill>
                  <a:srgbClr val="FFFFFF"/>
                </a:solidFill>
              </a:rPr>
              <a:t>wankhare.s@northeastern.edu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548940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Bhalchandra Shinde   </a:t>
            </a:r>
            <a:r>
              <a:rPr lang="en-US" sz="1050" b="0" i="0" dirty="0">
                <a:solidFill>
                  <a:srgbClr val="FFFFFF"/>
                </a:solidFill>
              </a:rPr>
              <a:t>	</a:t>
            </a:r>
            <a:r>
              <a:rPr sz="1050" b="0" i="0" dirty="0" err="1">
                <a:solidFill>
                  <a:srgbClr val="FFFFFF"/>
                </a:solidFill>
              </a:rPr>
              <a:t>shinde.b@northeastern.edu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5725370"/>
            <a:ext cx="38559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Asad Mulani             </a:t>
            </a:r>
            <a:r>
              <a:rPr lang="en-US" sz="1050" b="0" i="0" dirty="0">
                <a:solidFill>
                  <a:srgbClr val="FFFFFF"/>
                </a:solidFill>
              </a:rPr>
              <a:t>	</a:t>
            </a:r>
            <a:r>
              <a:rPr sz="1050" b="0" i="0" dirty="0" err="1">
                <a:solidFill>
                  <a:srgbClr val="FFFFFF"/>
                </a:solidFill>
              </a:rPr>
              <a:t>mulani.a@northeastern.edu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91903" y="3416107"/>
            <a:ext cx="3634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0" dirty="0">
                <a:solidFill>
                  <a:srgbClr val="FFFFFF"/>
                </a:solidFill>
              </a:rPr>
              <a:t>Dataset: INARA  (NASA FDL / </a:t>
            </a:r>
            <a:r>
              <a:rPr sz="1200" i="0" dirty="0" err="1">
                <a:solidFill>
                  <a:srgbClr val="FFFFFF"/>
                </a:solidFill>
              </a:rPr>
              <a:t>Zorzan</a:t>
            </a:r>
            <a:r>
              <a:rPr sz="1200" i="0" dirty="0">
                <a:solidFill>
                  <a:srgbClr val="FFFFFF"/>
                </a:solidFill>
              </a:rPr>
              <a:t> et al. 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0185" y="535260"/>
            <a:ext cx="2904319" cy="2560320"/>
          </a:xfrm>
          <a:prstGeom prst="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D6C7B7-2716-E44F-88CB-C9709EAD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666" y="4483108"/>
            <a:ext cx="6678121" cy="19791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FF403F-1F0C-82F5-FD32-A77DB39B3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640" y="655000"/>
            <a:ext cx="2684772" cy="2339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425A56-64A7-F7C2-9523-DEB8030966A8}"/>
              </a:ext>
            </a:extLst>
          </p:cNvPr>
          <p:cNvSpPr txBox="1"/>
          <p:nvPr/>
        </p:nvSpPr>
        <p:spPr>
          <a:xfrm>
            <a:off x="5891917" y="6242133"/>
            <a:ext cx="53552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Star  ●  </a:t>
            </a:r>
            <a:r>
              <a:rPr lang="en-US"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</a:t>
            </a:r>
            <a:r>
              <a:rPr lang="en-US"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[Planet transit]  </a:t>
            </a:r>
            <a:r>
              <a:rPr lang="en-US"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 </a:t>
            </a:r>
            <a:r>
              <a:rPr lang="en-US"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Spectrograph  </a:t>
            </a:r>
            <a:r>
              <a:rPr lang="en-US"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</a:t>
            </a:r>
            <a:r>
              <a:rPr lang="en-US"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sz="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Absorption dips per molecule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4706-C8A3-54BB-6C37-63DC33C9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FAF82-455A-0407-C741-B5B28728A17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32DEF9-2A9F-D7B2-FB7E-0BB529EEEFE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F1E4D-2EAB-D263-C01B-003AA0EF9E7E}"/>
              </a:ext>
            </a:extLst>
          </p:cNvPr>
          <p:cNvSpPr txBox="1"/>
          <p:nvPr/>
        </p:nvSpPr>
        <p:spPr>
          <a:xfrm>
            <a:off x="32004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Motivation </a:t>
            </a:r>
            <a:r>
              <a:rPr lang="en-US" sz="2800" b="1" i="0" dirty="0">
                <a:solidFill>
                  <a:srgbClr val="FFFFFF"/>
                </a:solidFill>
              </a:rPr>
              <a:t>-</a:t>
            </a:r>
            <a:r>
              <a:rPr sz="2800" b="1" i="0" dirty="0">
                <a:solidFill>
                  <a:srgbClr val="FFFFFF"/>
                </a:solidFill>
              </a:rPr>
              <a:t> Why This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4248B-7393-E5BA-4A0D-5929E2D5160A}"/>
              </a:ext>
            </a:extLst>
          </p:cNvPr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The intersection of scientific urgency and methodological opportunity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2A0CE-C72D-0800-7E1A-F07C8F491B1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8C24C-BF99-4CE5-435D-8751EED3C498}"/>
              </a:ext>
            </a:extLst>
          </p:cNvPr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0985D5-A963-E5B0-CE54-68AD981352EA}"/>
              </a:ext>
            </a:extLst>
          </p:cNvPr>
          <p:cNvSpPr/>
          <p:nvPr/>
        </p:nvSpPr>
        <p:spPr>
          <a:xfrm>
            <a:off x="549416" y="1126266"/>
            <a:ext cx="4675269" cy="1942825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B4EAF-7478-1C7A-B7C9-DD7EE575F6F4}"/>
              </a:ext>
            </a:extLst>
          </p:cNvPr>
          <p:cNvSpPr txBox="1"/>
          <p:nvPr/>
        </p:nvSpPr>
        <p:spPr>
          <a:xfrm>
            <a:off x="732296" y="119206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F3864"/>
                </a:solidFill>
              </a:rPr>
              <a:t>The Science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AE791-9C7B-10CC-1662-EA19F5FE55E6}"/>
              </a:ext>
            </a:extLst>
          </p:cNvPr>
          <p:cNvSpPr txBox="1"/>
          <p:nvPr/>
        </p:nvSpPr>
        <p:spPr>
          <a:xfrm>
            <a:off x="686576" y="1533605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▸  Rocky exoplanet atmospheres reveal if a world could be habitable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3B00E-8001-505D-CCE2-57F2B1247781}"/>
              </a:ext>
            </a:extLst>
          </p:cNvPr>
          <p:cNvSpPr txBox="1"/>
          <p:nvPr/>
        </p:nvSpPr>
        <p:spPr>
          <a:xfrm>
            <a:off x="686576" y="1800477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▸  Co-detection of O₂ + CH₄ is a strong biosignature</a:t>
            </a:r>
            <a:r>
              <a:rPr lang="en-US" sz="1100" b="0" i="0" dirty="0">
                <a:solidFill>
                  <a:srgbClr val="1A1A2E"/>
                </a:solidFill>
              </a:rPr>
              <a:t>-</a:t>
            </a:r>
            <a:r>
              <a:rPr sz="1100" b="0" i="0" dirty="0">
                <a:solidFill>
                  <a:srgbClr val="1A1A2E"/>
                </a:solidFill>
              </a:rPr>
              <a:t> signals biological activity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894D35-7026-7975-2616-298B4C552989}"/>
              </a:ext>
            </a:extLst>
          </p:cNvPr>
          <p:cNvSpPr txBox="1"/>
          <p:nvPr/>
        </p:nvSpPr>
        <p:spPr>
          <a:xfrm>
            <a:off x="694597" y="2059638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▸  JWST + planned Habitable Worlds Observatory (HWO) produce spectra at unprecedented scale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3C570-3E2C-0D34-863D-4AE9D2B9A277}"/>
              </a:ext>
            </a:extLst>
          </p:cNvPr>
          <p:cNvSpPr txBox="1"/>
          <p:nvPr/>
        </p:nvSpPr>
        <p:spPr>
          <a:xfrm>
            <a:off x="697727" y="2498327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▸  Population-level surveys require </a:t>
            </a:r>
            <a:r>
              <a:rPr sz="1100" b="0" i="0" dirty="0" err="1">
                <a:solidFill>
                  <a:srgbClr val="1A1A2E"/>
                </a:solidFill>
              </a:rPr>
              <a:t>analysing</a:t>
            </a:r>
            <a:r>
              <a:rPr sz="1100" b="0" i="0" dirty="0">
                <a:solidFill>
                  <a:srgbClr val="1A1A2E"/>
                </a:solidFill>
              </a:rPr>
              <a:t> thousands of planets </a:t>
            </a:r>
            <a:endParaRPr lang="en-US" sz="1100" b="0" i="0" dirty="0">
              <a:solidFill>
                <a:srgbClr val="1A1A2E"/>
              </a:solidFill>
            </a:endParaRPr>
          </a:p>
          <a:p>
            <a:pPr algn="l"/>
            <a:r>
              <a:rPr sz="1100" b="0" i="0" dirty="0">
                <a:solidFill>
                  <a:srgbClr val="1A1A2E"/>
                </a:solidFill>
              </a:rPr>
              <a:t>simultaneously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828D24-EFDF-4A4D-AE68-66CE3FFDE4DA}"/>
              </a:ext>
            </a:extLst>
          </p:cNvPr>
          <p:cNvGrpSpPr/>
          <p:nvPr/>
        </p:nvGrpSpPr>
        <p:grpSpPr>
          <a:xfrm>
            <a:off x="560567" y="3170987"/>
            <a:ext cx="5774775" cy="1328483"/>
            <a:chOff x="6308682" y="1234440"/>
            <a:chExt cx="5774775" cy="13284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2E0E36-C790-E212-2691-1DBC27C26209}"/>
                </a:ext>
              </a:extLst>
            </p:cNvPr>
            <p:cNvSpPr/>
            <p:nvPr/>
          </p:nvSpPr>
          <p:spPr>
            <a:xfrm>
              <a:off x="6308682" y="1234440"/>
              <a:ext cx="4664118" cy="1328483"/>
            </a:xfrm>
            <a:prstGeom prst="rect">
              <a:avLst/>
            </a:prstGeom>
            <a:solidFill>
              <a:srgbClr val="E8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C7B1B9-A7A7-820A-0FC9-F6223C329B02}"/>
                </a:ext>
              </a:extLst>
            </p:cNvPr>
            <p:cNvSpPr txBox="1"/>
            <p:nvPr/>
          </p:nvSpPr>
          <p:spPr>
            <a:xfrm>
              <a:off x="6505617" y="1325880"/>
              <a:ext cx="5577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1F3864"/>
                  </a:solidFill>
                </a:rPr>
                <a:t>Traditional Bayesian Retrieval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1F4F5A-DBE6-D67E-41B5-DC5685B0C7A2}"/>
                </a:ext>
              </a:extLst>
            </p:cNvPr>
            <p:cNvSpPr txBox="1"/>
            <p:nvPr/>
          </p:nvSpPr>
          <p:spPr>
            <a:xfrm>
              <a:off x="6459897" y="1683459"/>
              <a:ext cx="55778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✗  Nested sampling / MCMC — rigorous but slow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42BE51B-EF8B-241F-BA9C-DBF980C12775}"/>
                </a:ext>
              </a:extLst>
            </p:cNvPr>
            <p:cNvSpPr txBox="1"/>
            <p:nvPr/>
          </p:nvSpPr>
          <p:spPr>
            <a:xfrm>
              <a:off x="6459897" y="1957139"/>
              <a:ext cx="55778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✗  Hours to days per planet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DF911C-93F5-7025-17B3-F01158621BD3}"/>
                </a:ext>
              </a:extLst>
            </p:cNvPr>
            <p:cNvSpPr txBox="1"/>
            <p:nvPr/>
          </p:nvSpPr>
          <p:spPr>
            <a:xfrm>
              <a:off x="6459897" y="2198735"/>
              <a:ext cx="55778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✗  Does not scale to thousands of targets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8FEFDE7-0E27-6CCF-B6B9-13BCF641A3AA}"/>
              </a:ext>
            </a:extLst>
          </p:cNvPr>
          <p:cNvSpPr/>
          <p:nvPr/>
        </p:nvSpPr>
        <p:spPr>
          <a:xfrm>
            <a:off x="552405" y="4609098"/>
            <a:ext cx="4664118" cy="1848429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D5F435-BF8E-6EC3-5C03-D7EED179CD55}"/>
              </a:ext>
            </a:extLst>
          </p:cNvPr>
          <p:cNvSpPr txBox="1"/>
          <p:nvPr/>
        </p:nvSpPr>
        <p:spPr>
          <a:xfrm>
            <a:off x="807217" y="4682250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6BA0"/>
                </a:solidFill>
              </a:rPr>
              <a:t>ML-Based Retrieval</a:t>
            </a:r>
            <a:r>
              <a:rPr lang="en-US" sz="1400" b="1" i="0" dirty="0">
                <a:solidFill>
                  <a:srgbClr val="1A6BA0"/>
                </a:solidFill>
              </a:rPr>
              <a:t> (This project)</a:t>
            </a:r>
            <a:endParaRPr sz="1400" b="1" i="0" dirty="0">
              <a:solidFill>
                <a:srgbClr val="1A6B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6894AC-E6D6-9791-571A-E0740986E3D9}"/>
              </a:ext>
            </a:extLst>
          </p:cNvPr>
          <p:cNvSpPr txBox="1"/>
          <p:nvPr/>
        </p:nvSpPr>
        <p:spPr>
          <a:xfrm>
            <a:off x="705738" y="5078811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1A1A3A"/>
                </a:solidFill>
              </a:rPr>
              <a:t>  Train once on 124K synthetic profiles -&gt; predict in milliseconds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90A44B-86A6-5A3B-55BE-303646EABC63}"/>
              </a:ext>
            </a:extLst>
          </p:cNvPr>
          <p:cNvSpPr txBox="1"/>
          <p:nvPr/>
        </p:nvSpPr>
        <p:spPr>
          <a:xfrm>
            <a:off x="705738" y="5351848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1A1A3A"/>
                </a:solidFill>
              </a:rPr>
              <a:t>  INARA: first large-scale ML benchmark (3.1M sims, </a:t>
            </a:r>
            <a:r>
              <a:rPr sz="1100" b="0" i="0" dirty="0" err="1">
                <a:solidFill>
                  <a:srgbClr val="1A1A3A"/>
                </a:solidFill>
              </a:rPr>
              <a:t>Zorzan</a:t>
            </a:r>
            <a:r>
              <a:rPr sz="1100" b="0" i="0" dirty="0">
                <a:solidFill>
                  <a:srgbClr val="1A1A3A"/>
                </a:solidFill>
              </a:rPr>
              <a:t> 2025)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824D6-F522-A4E0-A07F-3A89AA9BE522}"/>
              </a:ext>
            </a:extLst>
          </p:cNvPr>
          <p:cNvSpPr txBox="1"/>
          <p:nvPr/>
        </p:nvSpPr>
        <p:spPr>
          <a:xfrm>
            <a:off x="705738" y="5632906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1A1A3A"/>
                </a:solidFill>
              </a:rPr>
              <a:t>  Random Forest baseline: PCA(300) + 12 independent regressors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C1A8A4-8993-8B35-A087-940B1561F545}"/>
              </a:ext>
            </a:extLst>
          </p:cNvPr>
          <p:cNvSpPr txBox="1"/>
          <p:nvPr/>
        </p:nvSpPr>
        <p:spPr>
          <a:xfrm>
            <a:off x="713531" y="5881157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1A1A3A"/>
                </a:solidFill>
              </a:rPr>
              <a:t>  1D CNN: shared conv backbone + 12 per-molecule output heads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364868-C76A-C1CA-8C2C-88389EC054B1}"/>
              </a:ext>
            </a:extLst>
          </p:cNvPr>
          <p:cNvSpPr txBox="1"/>
          <p:nvPr/>
        </p:nvSpPr>
        <p:spPr>
          <a:xfrm>
            <a:off x="705738" y="6122833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1A1A3A"/>
                </a:solidFill>
              </a:rPr>
              <a:t>  HPC (Northeastern Discovery) used for full 124K production run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E75DDB-5280-BBFC-B4B8-193D6BB7EC47}"/>
              </a:ext>
            </a:extLst>
          </p:cNvPr>
          <p:cNvSpPr txBox="1"/>
          <p:nvPr/>
        </p:nvSpPr>
        <p:spPr>
          <a:xfrm>
            <a:off x="6033333" y="1333307"/>
            <a:ext cx="5594925" cy="4939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700" i="0" dirty="0" err="1">
                <a:effectLst/>
                <a:latin typeface="Menlo" panose="020B0609030804020204" pitchFamily="49" charset="0"/>
              </a:rPr>
              <a:t>Inara_project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/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src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/                           # Core ML modules (do not modify)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data_utils.py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# Loading, splitting,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normalisation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, PCA, metrics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baseline_model.py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# Per-molecule Random Forest model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└──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deep_model.py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# CNN1D + Trainer +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SpectralDataset</a:t>
            </a:r>
            <a:endParaRPr lang="en-US" sz="700" i="0" dirty="0">
              <a:effectLst/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pipeline/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config.yaml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  # All configuration (paths, hyperparameters, toggles)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└── steps/                     # Numbered pipeline steps — run in order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    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config_loader.py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# Shared config reader (used by all steps)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    ├── 01_extract.py          # Step 1: raw archives → processed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numpy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arrays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    ├── 02_feature_engineer.py # Step 2: split +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normalise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+ PCA → artifacts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    ├── 03_train_baseline.py   # Step 3: Random Forest (≤10k samples)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    ├── 04_train_deep.py       # Step 4: 1D CNN training (with target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normalisation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    └── 05_evaluate.py         # Step 5: unified test eval + comparison report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jobs/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slurm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/                     # Northeastern Explorer HPC job scripts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│   ├── 01_extract.sh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│   ├── 02_feature_engineer.sh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│   ├── 03_train_baseline.sh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│   ├── 04_train_deep.sh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│   ├── 05_evaluate.sh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│   └──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submit_pipeline.sh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# Submit all jobs with dependency chain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└── local/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    └──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run_pipeline.sh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# Mac M5 — runs all steps sequentially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notebooks/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└──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eda.ipynb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    # Exploratory Data Analysis (standalone)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inara_data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/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├── processed/                 # Output of Step 1 (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spectra.npy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etc.)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└── engineered/                # Output of Step 2 (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normalised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arrays + PCA)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models/                        # Saved model weights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baseline_rf.joblib</a:t>
            </a:r>
            <a:endParaRPr lang="en-US" sz="700" i="0" dirty="0">
              <a:effectLst/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   └── cnn1d.pt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results/                       # Metrics, predictions, training history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│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dashboard.py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     #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Streamlit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interactive results dashboard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process_inara.py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 # Standalone data extraction script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├──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run_baseline.py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  # Standalone baseline training script</a:t>
            </a:r>
          </a:p>
          <a:p>
            <a:pPr algn="l">
              <a:buNone/>
            </a:pPr>
            <a:r>
              <a:rPr lang="en-US" sz="700" i="0" dirty="0">
                <a:effectLst/>
                <a:latin typeface="Menlo" panose="020B0609030804020204" pitchFamily="49" charset="0"/>
              </a:rPr>
              <a:t>└── </a:t>
            </a:r>
            <a:r>
              <a:rPr lang="en-US" sz="700" i="0" dirty="0" err="1">
                <a:effectLst/>
                <a:latin typeface="Menlo" panose="020B0609030804020204" pitchFamily="49" charset="0"/>
              </a:rPr>
              <a:t>run_deep_model.py</a:t>
            </a:r>
            <a:r>
              <a:rPr lang="en-US" sz="700" i="0" dirty="0">
                <a:effectLst/>
                <a:latin typeface="Menlo" panose="020B0609030804020204" pitchFamily="49" charset="0"/>
              </a:rPr>
              <a:t>              # Standalone deep model training script</a:t>
            </a:r>
            <a:endParaRPr lang="en-US" sz="700" i="0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8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Multi-output regression over molecular log₁₀ abundances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52D854-266D-40FF-ABAC-EEA0F4A29CBD}"/>
              </a:ext>
            </a:extLst>
          </p:cNvPr>
          <p:cNvGrpSpPr/>
          <p:nvPr/>
        </p:nvGrpSpPr>
        <p:grpSpPr>
          <a:xfrm>
            <a:off x="2870421" y="1152752"/>
            <a:ext cx="7406640" cy="932080"/>
            <a:chOff x="914400" y="1234440"/>
            <a:chExt cx="7406640" cy="1051560"/>
          </a:xfrm>
        </p:grpSpPr>
        <p:sp>
          <p:nvSpPr>
            <p:cNvPr id="9" name="Rectangle 8"/>
            <p:cNvSpPr/>
            <p:nvPr/>
          </p:nvSpPr>
          <p:spPr>
            <a:xfrm>
              <a:off x="914400" y="1234440"/>
              <a:ext cx="6217920" cy="1051560"/>
            </a:xfrm>
            <a:prstGeom prst="rect">
              <a:avLst/>
            </a:prstGeom>
            <a:solidFill>
              <a:srgbClr val="D6E4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97280" y="1354203"/>
              <a:ext cx="72237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F3864"/>
                  </a:solidFill>
                </a:rPr>
                <a:t>Given a transmission spectrum of an exoplanet's atmosphere,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97280" y="1758546"/>
              <a:ext cx="7132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1F3864"/>
                  </a:solidFill>
                </a:rPr>
                <a:t>predict the log₁₀ surface volume mixing ratios of 12 molecular species.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365760" y="2535786"/>
            <a:ext cx="3474720" cy="276773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A0"/>
                </a:solidFill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Transmission Spectrum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12 CLIMA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101 altitude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Z-score normalised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542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(INARA ATMOS format)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535786"/>
            <a:ext cx="2743200" cy="276773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2816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D88"/>
                </a:solidFill>
              </a:rPr>
              <a:t>ML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FF"/>
                </a:solidFill>
              </a:rPr>
              <a:t>(baseline, ≤10k samples)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1D CNN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FF"/>
                </a:solidFill>
              </a:rPr>
              <a:t>(deep model, full dataset)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535786"/>
            <a:ext cx="3566160" cy="2767734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28163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A0"/>
                </a:solidFill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200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12 Molecular Abundances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H₂O · CO₂ · O₂ · O₃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959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CH₄ · N₂ · N₂O · 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306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H₂ · H₂S · SO₂ · NH₃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54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(log₁₀ VMR at surface)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32120"/>
            <a:ext cx="11430000" cy="6400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55955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F3864"/>
                </a:solidFill>
              </a:rPr>
              <a:t>Why log₁₀ space?  Mixing ratios span ~12 orders of magnitude (~0.1 for N₂ to 10⁻⁴⁰ for trace species). Log₁₀ makes the prediction scale uniform — an error of 1.0 means 'off by one order of magnitude'.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Dataset </a:t>
            </a:r>
            <a:r>
              <a:rPr lang="en-US" sz="2800" b="1" i="0" dirty="0">
                <a:solidFill>
                  <a:srgbClr val="FFFFFF"/>
                </a:solidFill>
              </a:rPr>
              <a:t>-</a:t>
            </a:r>
            <a:r>
              <a:rPr sz="2800" b="1" i="0" dirty="0">
                <a:solidFill>
                  <a:srgbClr val="FFFFFF"/>
                </a:solidFill>
              </a:rPr>
              <a:t> INARA (NASA FDL / </a:t>
            </a:r>
            <a:r>
              <a:rPr sz="2800" b="1" i="0" dirty="0" err="1">
                <a:solidFill>
                  <a:srgbClr val="FFFFFF"/>
                </a:solidFill>
              </a:rPr>
              <a:t>Zorzan</a:t>
            </a:r>
            <a:r>
              <a:rPr sz="2800" b="1" i="0" dirty="0">
                <a:solidFill>
                  <a:srgbClr val="FFFFFF"/>
                </a:solidFill>
              </a:rPr>
              <a:t> et al.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3.1 million synthetic rocky planet spectra from NASA Planetary Spectrum Generator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22931"/>
            <a:ext cx="5303520" cy="26857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1437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Dataset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6006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F3864"/>
                </a:solidFill>
              </a:rPr>
              <a:t>Full dataset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56006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3,112,620 synthetic CLIMA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10861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F3864"/>
                </a:solidFill>
              </a:rPr>
              <a:t>This project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810861"/>
            <a:ext cx="2926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1A1A2E"/>
                </a:solidFill>
              </a:rPr>
              <a:t>1</a:t>
            </a:r>
            <a:r>
              <a:rPr sz="1050" b="0" i="0" dirty="0">
                <a:solidFill>
                  <a:srgbClr val="1A1A2E"/>
                </a:solidFill>
              </a:rPr>
              <a:t>2</a:t>
            </a:r>
            <a:r>
              <a:rPr lang="en-US" sz="1050" b="0" i="0" dirty="0">
                <a:solidFill>
                  <a:srgbClr val="1A1A2E"/>
                </a:solidFill>
              </a:rPr>
              <a:t>4</a:t>
            </a:r>
            <a:r>
              <a:rPr sz="1050" b="0" i="0" dirty="0">
                <a:solidFill>
                  <a:srgbClr val="1A1A2E"/>
                </a:solidFill>
              </a:rPr>
              <a:t>,000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7446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F3864"/>
                </a:solidFill>
              </a:rPr>
              <a:t>Profile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07446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INARA ATMOS — CLIMA atmospheric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34930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F3864"/>
                </a:solidFill>
              </a:rPr>
              <a:t>Altitude levels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34930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101 per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68116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F3864"/>
                </a:solidFill>
              </a:rPr>
              <a:t>Input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681167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12 CLIMA variables (T, P, 10 molecules)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04648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F3864"/>
                </a:solidFill>
              </a:rPr>
              <a:t>Stellar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04648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F, G, K, M — 4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389493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F3864"/>
                </a:solidFill>
              </a:rPr>
              <a:t>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389493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CSV per planet → .npy arrays after 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55503" y="1122931"/>
            <a:ext cx="3429000" cy="26857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2663" y="127514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CLIMA Input Channels (12)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0915" y="1704910"/>
            <a:ext cx="502920" cy="50292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28" name="TextBox 27"/>
          <p:cNvSpPr txBox="1"/>
          <p:nvPr/>
        </p:nvSpPr>
        <p:spPr>
          <a:xfrm>
            <a:off x="5869203" y="1778062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 / 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9863" y="174148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Temperature &amp; Pressure profiles </a:t>
            </a:r>
            <a:endParaRPr lang="en-US" sz="1050" b="0" i="0" dirty="0">
              <a:solidFill>
                <a:srgbClr val="1A1A2E"/>
              </a:solidFill>
            </a:endParaRPr>
          </a:p>
          <a:p>
            <a:pPr algn="l"/>
            <a:r>
              <a:rPr sz="1050" b="0" i="0" dirty="0">
                <a:solidFill>
                  <a:srgbClr val="1A1A2E"/>
                </a:solidFill>
              </a:rPr>
              <a:t>— primary physical state of the atmosphere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0915" y="2363277"/>
            <a:ext cx="502920" cy="50292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1" name="TextBox 30"/>
          <p:cNvSpPr txBox="1"/>
          <p:nvPr/>
        </p:nvSpPr>
        <p:spPr>
          <a:xfrm>
            <a:off x="5869203" y="243643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10 mol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9863" y="2399853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H₂O, CO₂, O₂, O₃, CH₄, N₂, N₂O, CO, H₂, H₂S </a:t>
            </a:r>
            <a:endParaRPr lang="en-US" sz="1050" b="0" i="0" dirty="0">
              <a:solidFill>
                <a:srgbClr val="1A1A2E"/>
              </a:solidFill>
            </a:endParaRPr>
          </a:p>
          <a:p>
            <a:pPr algn="l"/>
            <a:r>
              <a:rPr sz="1050" b="0" i="0" dirty="0">
                <a:solidFill>
                  <a:srgbClr val="1A1A2E"/>
                </a:solidFill>
              </a:rPr>
              <a:t>— altitude-resolved mixing ratios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0915" y="3021646"/>
            <a:ext cx="502920" cy="50292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4" name="TextBox 33"/>
          <p:cNvSpPr txBox="1"/>
          <p:nvPr/>
        </p:nvSpPr>
        <p:spPr>
          <a:xfrm>
            <a:off x="5869203" y="3094798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Norm.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9863" y="305822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All 12 channels Z-score </a:t>
            </a:r>
            <a:r>
              <a:rPr sz="1050" b="0" i="0" dirty="0" err="1">
                <a:solidFill>
                  <a:srgbClr val="1A1A2E"/>
                </a:solidFill>
              </a:rPr>
              <a:t>normalised</a:t>
            </a:r>
            <a:r>
              <a:rPr sz="1050" b="0" i="0" dirty="0">
                <a:solidFill>
                  <a:srgbClr val="1A1A2E"/>
                </a:solidFill>
              </a:rPr>
              <a:t> per </a:t>
            </a:r>
            <a:endParaRPr lang="en-US" sz="1050" b="0" i="0" dirty="0">
              <a:solidFill>
                <a:srgbClr val="1A1A2E"/>
              </a:solidFill>
            </a:endParaRPr>
          </a:p>
          <a:p>
            <a:pPr algn="l"/>
            <a:r>
              <a:rPr sz="1050" b="0" i="0" dirty="0">
                <a:solidFill>
                  <a:srgbClr val="1A1A2E"/>
                </a:solidFill>
              </a:rPr>
              <a:t>channel (fit on train only)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4962" y="1122932"/>
            <a:ext cx="2697658" cy="2685744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18378" y="1361565"/>
            <a:ext cx="26976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F3864"/>
                </a:solidFill>
              </a:rPr>
              <a:t>12 Target Molecules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8378" y="1894257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6BA0"/>
                </a:solidFill>
              </a:rPr>
              <a:t>Habitability: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987" y="1894257"/>
            <a:ext cx="16838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H₂O · CO₂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8378" y="2296593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Biosignatures: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987" y="2296593"/>
            <a:ext cx="16838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O₂ · O₃ · CH₄ · N₂O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8378" y="2698929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5496"/>
                </a:solidFill>
              </a:rPr>
              <a:t>Background: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987" y="2698929"/>
            <a:ext cx="18098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N₂ · H₂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18378" y="3101265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486"/>
                </a:solidFill>
              </a:rPr>
              <a:t>Geochemical: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987" y="3101265"/>
            <a:ext cx="18098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 · H₂S · SO₂ · NH₃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FD55B9C-87B4-45BF-8A60-2401AFB3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27" y="4036608"/>
            <a:ext cx="5303521" cy="226726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0609FFF-02C2-8C78-10F1-D4147611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638" y="4036154"/>
            <a:ext cx="6139960" cy="226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ML </a:t>
            </a:r>
            <a:r>
              <a:rPr sz="2800" b="1" i="0" dirty="0">
                <a:solidFill>
                  <a:srgbClr val="FFFFFF"/>
                </a:solidFill>
              </a:rPr>
              <a:t>Pipeline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Five-stage structured pipeline — each step produces reusable artifacts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201168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" y="1298448"/>
            <a:ext cx="5788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D88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tar.gz → .npy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234440"/>
            <a:ext cx="2011680" cy="137160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9192" y="1298448"/>
            <a:ext cx="5788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D8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Feature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Split + Norm + 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234440"/>
            <a:ext cx="2011680" cy="137160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6632" y="1298448"/>
            <a:ext cx="5788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D88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Baseline 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10k-capped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234440"/>
            <a:ext cx="2011680" cy="1371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34072" y="1298448"/>
            <a:ext cx="5704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D88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Deep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Full-data 1D CNN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234440"/>
            <a:ext cx="2011680" cy="1371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11511" y="1290497"/>
            <a:ext cx="5331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D88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Unified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904" y="2821845"/>
            <a:ext cx="11895015" cy="3383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2907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Step 2 Deep Dive — Feature Engineering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7360" y="3364992"/>
            <a:ext cx="1776825" cy="2651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8936" y="3438144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3864"/>
                </a:solidFill>
              </a:rPr>
              <a:t>70 / 15 / 15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850" y="3840480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· Deterministic (seed=42)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3850" y="4261104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· Fixed once — both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3850" y="4681728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· use identical test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3850" y="5102352"/>
            <a:ext cx="2423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· Saved as </a:t>
            </a:r>
            <a:endParaRPr lang="en-US" sz="1100" b="0" i="0" dirty="0">
              <a:solidFill>
                <a:srgbClr val="1A1A2E"/>
              </a:solidFill>
            </a:endParaRPr>
          </a:p>
          <a:p>
            <a:pPr algn="l"/>
            <a:r>
              <a:rPr sz="1100" b="0" i="0" dirty="0">
                <a:solidFill>
                  <a:srgbClr val="1A1A2E"/>
                </a:solidFill>
              </a:rPr>
              <a:t>train/</a:t>
            </a:r>
            <a:r>
              <a:rPr sz="1100" b="0" i="0" dirty="0" err="1">
                <a:solidFill>
                  <a:srgbClr val="1A1A2E"/>
                </a:solidFill>
              </a:rPr>
              <a:t>val</a:t>
            </a:r>
            <a:r>
              <a:rPr sz="1100" b="0" i="0" dirty="0">
                <a:solidFill>
                  <a:srgbClr val="1A1A2E"/>
                </a:solidFill>
              </a:rPr>
              <a:t>/</a:t>
            </a:r>
            <a:r>
              <a:rPr sz="1100" b="0" i="0" dirty="0" err="1">
                <a:solidFill>
                  <a:srgbClr val="1A1A2E"/>
                </a:solidFill>
              </a:rPr>
              <a:t>test_indices.npy</a:t>
            </a:r>
            <a:endParaRPr sz="1100" b="0" i="0" dirty="0">
              <a:solidFill>
                <a:srgbClr val="1A1A2E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1D90C10-49CA-1050-6BE4-D1FE6A0AC033}"/>
              </a:ext>
            </a:extLst>
          </p:cNvPr>
          <p:cNvGrpSpPr/>
          <p:nvPr/>
        </p:nvGrpSpPr>
        <p:grpSpPr>
          <a:xfrm>
            <a:off x="2135166" y="3364992"/>
            <a:ext cx="2578608" cy="2651760"/>
            <a:chOff x="2604090" y="3364992"/>
            <a:chExt cx="2578608" cy="2651760"/>
          </a:xfrm>
        </p:grpSpPr>
        <p:sp>
          <p:nvSpPr>
            <p:cNvPr id="41" name="Rectangle 40"/>
            <p:cNvSpPr/>
            <p:nvPr/>
          </p:nvSpPr>
          <p:spPr>
            <a:xfrm>
              <a:off x="2604090" y="3364992"/>
              <a:ext cx="1776825" cy="2651760"/>
            </a:xfrm>
            <a:prstGeom prst="rect">
              <a:avLst/>
            </a:prstGeom>
            <a:solidFill>
              <a:srgbClr val="D6E4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713818" y="3438144"/>
              <a:ext cx="24688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1F3864"/>
                  </a:solidFill>
                </a:rPr>
                <a:t>Z-Score </a:t>
              </a:r>
              <a:r>
                <a:rPr sz="1200" b="1" i="0" dirty="0" err="1">
                  <a:solidFill>
                    <a:srgbClr val="1F3864"/>
                  </a:solidFill>
                </a:rPr>
                <a:t>Normalisation</a:t>
              </a:r>
              <a:endParaRPr sz="1200" b="1" i="0" dirty="0">
                <a:solidFill>
                  <a:srgbClr val="1F3864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41250" y="3840480"/>
              <a:ext cx="242316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· Per CLIMA channel </a:t>
              </a:r>
              <a:endParaRPr lang="en-US" sz="1100" b="0" i="0" dirty="0">
                <a:solidFill>
                  <a:srgbClr val="1A1A2E"/>
                </a:solidFill>
              </a:endParaRPr>
            </a:p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(12 channels)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741250" y="4347071"/>
              <a:ext cx="24231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</a:rPr>
                <a:t>· Fit on train set ONLY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41250" y="4767695"/>
              <a:ext cx="24231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· Prevents data leakage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741250" y="5188319"/>
              <a:ext cx="24231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</a:rPr>
                <a:t>· Saved as scaler.joblib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3D7B821-B765-C10E-8934-26C0C5CD8C14}"/>
              </a:ext>
            </a:extLst>
          </p:cNvPr>
          <p:cNvGrpSpPr/>
          <p:nvPr/>
        </p:nvGrpSpPr>
        <p:grpSpPr>
          <a:xfrm>
            <a:off x="4030790" y="3364992"/>
            <a:ext cx="2578608" cy="2651760"/>
            <a:chOff x="4953001" y="3364992"/>
            <a:chExt cx="2578608" cy="2651760"/>
          </a:xfrm>
        </p:grpSpPr>
        <p:sp>
          <p:nvSpPr>
            <p:cNvPr id="47" name="Rectangle 46"/>
            <p:cNvSpPr/>
            <p:nvPr/>
          </p:nvSpPr>
          <p:spPr>
            <a:xfrm>
              <a:off x="4953001" y="3364992"/>
              <a:ext cx="1776825" cy="2651760"/>
            </a:xfrm>
            <a:prstGeom prst="rect">
              <a:avLst/>
            </a:prstGeom>
            <a:solidFill>
              <a:srgbClr val="D6E4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62729" y="3438144"/>
              <a:ext cx="24688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1F3864"/>
                  </a:solidFill>
                </a:rPr>
                <a:t>PCA (RF only)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90161" y="3840480"/>
              <a:ext cx="242316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· Flatten: 12×101 → </a:t>
              </a:r>
              <a:endParaRPr lang="en-US" sz="1100" b="0" i="0" dirty="0">
                <a:solidFill>
                  <a:srgbClr val="1A1A2E"/>
                </a:solidFill>
              </a:endParaRPr>
            </a:p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1212 features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90161" y="4370518"/>
              <a:ext cx="242316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· Reduce to 300 </a:t>
              </a:r>
              <a:endParaRPr lang="en-US" sz="1100" b="0" i="0" dirty="0">
                <a:solidFill>
                  <a:srgbClr val="1A1A2E"/>
                </a:solidFill>
              </a:endParaRPr>
            </a:p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components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090161" y="4861481"/>
              <a:ext cx="242316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· Retains 100% variance </a:t>
              </a:r>
              <a:endParaRPr lang="en-US" sz="1100" b="0" i="0" dirty="0">
                <a:solidFill>
                  <a:srgbClr val="1A1A2E"/>
                </a:solidFill>
              </a:endParaRPr>
            </a:p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(25k dataset rank-limited)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90161" y="5313367"/>
              <a:ext cx="24231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</a:rPr>
                <a:t>· Saved as </a:t>
              </a:r>
              <a:r>
                <a:rPr sz="1100" b="0" i="0" dirty="0" err="1">
                  <a:solidFill>
                    <a:srgbClr val="1A1A2E"/>
                  </a:solidFill>
                </a:rPr>
                <a:t>pca.joblib</a:t>
              </a:r>
              <a:endParaRPr sz="1100" b="0" i="0" dirty="0">
                <a:solidFill>
                  <a:srgbClr val="1A1A2E"/>
                </a:solidFill>
              </a:endParaRPr>
            </a:p>
          </p:txBody>
        </p:sp>
      </p:grpSp>
      <p:sp>
        <p:nvSpPr>
          <p:cNvPr id="53" name="Rectangle 52"/>
          <p:cNvSpPr/>
          <p:nvPr/>
        </p:nvSpPr>
        <p:spPr>
          <a:xfrm>
            <a:off x="5887342" y="3364992"/>
            <a:ext cx="1802580" cy="2651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4" name="TextBox 53"/>
          <p:cNvSpPr txBox="1"/>
          <p:nvPr/>
        </p:nvSpPr>
        <p:spPr>
          <a:xfrm>
            <a:off x="5997069" y="3438144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3864"/>
                </a:solidFill>
              </a:rPr>
              <a:t>Deep Model Input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24501" y="3840480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· Raw 2D tensor (12 × 101)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24501" y="4261104"/>
            <a:ext cx="2423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· No PCA — CNN learns </a:t>
            </a:r>
            <a:endParaRPr lang="en-US" sz="1100" b="0" i="0" dirty="0">
              <a:solidFill>
                <a:srgbClr val="1A1A2E"/>
              </a:solidFill>
            </a:endParaRPr>
          </a:p>
          <a:p>
            <a:pPr algn="l"/>
            <a:r>
              <a:rPr sz="1100" b="0" i="0" dirty="0">
                <a:solidFill>
                  <a:srgbClr val="1A1A2E"/>
                </a:solidFill>
              </a:rPr>
              <a:t>features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24501" y="4681728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· Z-</a:t>
            </a:r>
            <a:r>
              <a:rPr sz="1100" b="0" i="0" dirty="0" err="1">
                <a:solidFill>
                  <a:srgbClr val="1A1A2E"/>
                </a:solidFill>
              </a:rPr>
              <a:t>normalised</a:t>
            </a:r>
            <a:r>
              <a:rPr sz="1100" b="0" i="0" dirty="0">
                <a:solidFill>
                  <a:srgbClr val="1A1A2E"/>
                </a:solidFill>
              </a:rPr>
              <a:t> spectra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24501" y="5102352"/>
            <a:ext cx="2423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· Stored as </a:t>
            </a:r>
            <a:endParaRPr lang="en-US" sz="1100" b="0" i="0" dirty="0">
              <a:solidFill>
                <a:srgbClr val="1A1A2E"/>
              </a:solidFill>
            </a:endParaRPr>
          </a:p>
          <a:p>
            <a:pPr algn="l"/>
            <a:r>
              <a:rPr sz="1100" b="0" i="0" dirty="0" err="1">
                <a:solidFill>
                  <a:srgbClr val="1A1A2E"/>
                </a:solidFill>
              </a:rPr>
              <a:t>spectra_train.npy</a:t>
            </a:r>
            <a:endParaRPr sz="1100" b="0" i="0" dirty="0">
              <a:solidFill>
                <a:srgbClr val="1A1A2E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6303FA-B2B6-A551-3E7C-31F46618D6D2}"/>
              </a:ext>
            </a:extLst>
          </p:cNvPr>
          <p:cNvSpPr/>
          <p:nvPr/>
        </p:nvSpPr>
        <p:spPr>
          <a:xfrm>
            <a:off x="7823667" y="3682020"/>
            <a:ext cx="4086222" cy="2334732"/>
          </a:xfrm>
          <a:prstGeom prst="rect">
            <a:avLst/>
          </a:prstGeom>
          <a:solidFill>
            <a:srgbClr val="FFFFFF"/>
          </a:solidFill>
          <a:ln w="7620">
            <a:solidFill>
              <a:srgbClr val="C0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E2607BC-FFF3-A9B8-BA62-1A4520886B83}"/>
              </a:ext>
            </a:extLst>
          </p:cNvPr>
          <p:cNvSpPr/>
          <p:nvPr/>
        </p:nvSpPr>
        <p:spPr>
          <a:xfrm>
            <a:off x="7823667" y="3362647"/>
            <a:ext cx="4086222" cy="310896"/>
          </a:xfrm>
          <a:prstGeom prst="rect">
            <a:avLst/>
          </a:prstGeom>
          <a:solidFill>
            <a:srgbClr val="B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91D354-0D25-9280-473E-5EC45E3101F2}"/>
              </a:ext>
            </a:extLst>
          </p:cNvPr>
          <p:cNvSpPr txBox="1"/>
          <p:nvPr/>
        </p:nvSpPr>
        <p:spPr>
          <a:xfrm>
            <a:off x="7915106" y="3399223"/>
            <a:ext cx="39959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A2F6A"/>
                </a:solidFill>
              </a:rPr>
              <a:t>Why Minimal Feature Engineering?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C3275C-CB55-3AA2-EB95-551BE83FBFFC}"/>
              </a:ext>
            </a:extLst>
          </p:cNvPr>
          <p:cNvSpPr txBox="1"/>
          <p:nvPr/>
        </p:nvSpPr>
        <p:spPr>
          <a:xfrm>
            <a:off x="8004517" y="3850029"/>
            <a:ext cx="37455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000" b="0" i="0" dirty="0">
                <a:solidFill>
                  <a:srgbClr val="1A1A3A"/>
                </a:solidFill>
              </a:rPr>
              <a:t>  CLIMA profiles are already physically structured (not raw pixels/</a:t>
            </a:r>
            <a:r>
              <a:rPr lang="en-US" sz="1000" b="0" i="0" dirty="0">
                <a:solidFill>
                  <a:srgbClr val="1A1A3A"/>
                </a:solidFill>
              </a:rPr>
              <a:t> </a:t>
            </a:r>
            <a:r>
              <a:rPr sz="1000" b="0" i="0" dirty="0">
                <a:solidFill>
                  <a:srgbClr val="1A1A3A"/>
                </a:solidFill>
              </a:rPr>
              <a:t>text)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090C0A-2513-B187-ED80-501E92868A4E}"/>
              </a:ext>
            </a:extLst>
          </p:cNvPr>
          <p:cNvSpPr txBox="1"/>
          <p:nvPr/>
        </p:nvSpPr>
        <p:spPr>
          <a:xfrm>
            <a:off x="8004516" y="4229159"/>
            <a:ext cx="37455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000" b="0" i="0" dirty="0">
                <a:solidFill>
                  <a:srgbClr val="1A1A3A"/>
                </a:solidFill>
              </a:rPr>
              <a:t>  12 meaningful channels x 101 altitude levels -- no noise features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D5CDE6-D9EF-647F-115A-07BBD5D48238}"/>
              </a:ext>
            </a:extLst>
          </p:cNvPr>
          <p:cNvSpPr txBox="1"/>
          <p:nvPr/>
        </p:nvSpPr>
        <p:spPr>
          <a:xfrm>
            <a:off x="8004516" y="4549447"/>
            <a:ext cx="3905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000" b="0" i="0" dirty="0">
                <a:solidFill>
                  <a:srgbClr val="1A1A3A"/>
                </a:solidFill>
              </a:rPr>
              <a:t>  Preprocessing: Z-score per channel (fit on train, applied to </a:t>
            </a:r>
            <a:r>
              <a:rPr sz="1000" b="0" i="0" dirty="0" err="1">
                <a:solidFill>
                  <a:srgbClr val="1A1A3A"/>
                </a:solidFill>
              </a:rPr>
              <a:t>val</a:t>
            </a:r>
            <a:r>
              <a:rPr sz="1000" b="0" i="0" dirty="0">
                <a:solidFill>
                  <a:srgbClr val="1A1A3A"/>
                </a:solidFill>
              </a:rPr>
              <a:t>/test)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5A40DC-BA4D-466A-AD7E-786AA945F0C0}"/>
              </a:ext>
            </a:extLst>
          </p:cNvPr>
          <p:cNvSpPr txBox="1"/>
          <p:nvPr/>
        </p:nvSpPr>
        <p:spPr>
          <a:xfrm>
            <a:off x="8004516" y="4878038"/>
            <a:ext cx="3587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000" b="0" i="0" dirty="0">
                <a:solidFill>
                  <a:srgbClr val="1A1A3A"/>
                </a:solidFill>
              </a:rPr>
              <a:t>  Log10 targets handle 12-order-of-magnitude range (not FE)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6B58DF-307B-DB20-8E70-EF6A97D230B1}"/>
              </a:ext>
            </a:extLst>
          </p:cNvPr>
          <p:cNvSpPr txBox="1"/>
          <p:nvPr/>
        </p:nvSpPr>
        <p:spPr>
          <a:xfrm>
            <a:off x="8004516" y="5212165"/>
            <a:ext cx="39959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000" b="0" i="0" dirty="0">
                <a:solidFill>
                  <a:srgbClr val="1A1A3A"/>
                </a:solidFill>
              </a:rPr>
              <a:t>  RF adds PCA(300): dimensionality reduction, retains &gt;=95% variance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4F65A4-F30A-457B-4595-3C3CCDD74E53}"/>
              </a:ext>
            </a:extLst>
          </p:cNvPr>
          <p:cNvSpPr txBox="1"/>
          <p:nvPr/>
        </p:nvSpPr>
        <p:spPr>
          <a:xfrm>
            <a:off x="8004516" y="5523460"/>
            <a:ext cx="40062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000" b="0" i="0" dirty="0">
                <a:solidFill>
                  <a:srgbClr val="1A1A3A"/>
                </a:solidFill>
              </a:rPr>
              <a:t>  CNN learns altitude patterns internally via stride-2 convolutions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EDA -- Atmospheric Profiles &amp; Molecular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77D963B-0863-8768-C5D5-A0C23BB3E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2851"/>
            <a:ext cx="5742432" cy="4520638"/>
          </a:xfrm>
          <a:prstGeom prst="rect">
            <a:avLst/>
          </a:prstGeom>
        </p:spPr>
      </p:pic>
      <p:pic>
        <p:nvPicPr>
          <p:cNvPr id="153" name="Picture 152" descr="image.png">
            <a:extLst>
              <a:ext uri="{FF2B5EF4-FFF2-40B4-BE49-F238E27FC236}">
                <a16:creationId xmlns:a16="http://schemas.microsoft.com/office/drawing/2014/main" id="{977D0617-59F6-D8F1-E1DD-6E56178E3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639" y="1411127"/>
            <a:ext cx="5383423" cy="4412362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00E32D09-99C7-A3BE-253F-2C5158AE864F}"/>
              </a:ext>
            </a:extLst>
          </p:cNvPr>
          <p:cNvSpPr txBox="1"/>
          <p:nvPr/>
        </p:nvSpPr>
        <p:spPr>
          <a:xfrm>
            <a:off x="320040" y="754647"/>
            <a:ext cx="5980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 dirty="0">
                <a:solidFill>
                  <a:schemeClr val="bg1"/>
                </a:solidFill>
              </a:rPr>
              <a:t>Mean CLIMA altitude profiles (left)  |  Log10 VMR target distributions (right)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FDD0004-6E83-9E77-7134-A24391911754}"/>
              </a:ext>
            </a:extLst>
          </p:cNvPr>
          <p:cNvSpPr txBox="1"/>
          <p:nvPr/>
        </p:nvSpPr>
        <p:spPr>
          <a:xfrm>
            <a:off x="182880" y="5986193"/>
            <a:ext cx="5980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/>
              <a:t>Fig 1: Mean altitude profile for each of the 12 CLIMA channels. T and P show monotone structure; molecular channels reveal altitude-dependent gradients that serve as the raw CNN input.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424C3E5-0E00-8AE1-DAE7-598FA97F60A7}"/>
              </a:ext>
            </a:extLst>
          </p:cNvPr>
          <p:cNvSpPr txBox="1"/>
          <p:nvPr/>
        </p:nvSpPr>
        <p:spPr>
          <a:xfrm>
            <a:off x="6442060" y="5986193"/>
            <a:ext cx="574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/>
              <a:t>Fig 2: Log10 VMR distributions. Most molecules span 5-15 log-orders. NH3 is degenerate (constant floor=-40). H2O has near-zero variance -- low RF R2, high CNN R2.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8BCC-78ED-8023-D938-9FD7E4FDC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5DCF4-0671-87C4-0189-D1DEDCA3E6A6}"/>
              </a:ext>
            </a:extLst>
          </p:cNvPr>
          <p:cNvSpPr/>
          <p:nvPr/>
        </p:nvSpPr>
        <p:spPr>
          <a:xfrm>
            <a:off x="-13717" y="726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94C1203-21DD-0722-1CBB-38448559FFB0}"/>
              </a:ext>
            </a:extLst>
          </p:cNvPr>
          <p:cNvSpPr/>
          <p:nvPr/>
        </p:nvSpPr>
        <p:spPr>
          <a:xfrm>
            <a:off x="5958059" y="1487496"/>
            <a:ext cx="5943600" cy="2217344"/>
          </a:xfrm>
          <a:prstGeom prst="rect">
            <a:avLst/>
          </a:prstGeom>
          <a:solidFill>
            <a:srgbClr val="FFFFFF"/>
          </a:solidFill>
          <a:ln w="7620">
            <a:solidFill>
              <a:srgbClr val="C0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88833-75D7-98FE-577C-E1C14BD22025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B6B32-7E2F-CA93-88CD-A02BEBCF1F5D}"/>
              </a:ext>
            </a:extLst>
          </p:cNvPr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Baseline Model — Random Forest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47CBC-77A7-04BD-E5ED-E03EA1260AF5}"/>
              </a:ext>
            </a:extLst>
          </p:cNvPr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12 independent RandomForestRegressors on PCA-reduced features (≤ 10,000 training samples)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60D0C-4A22-65B6-0025-A422ACAD8782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8D41C4-1ADA-FCFE-0F37-D79F66DC4917}"/>
              </a:ext>
            </a:extLst>
          </p:cNvPr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322D3D-8A6D-7B98-0868-E8184744ABCD}"/>
              </a:ext>
            </a:extLst>
          </p:cNvPr>
          <p:cNvSpPr/>
          <p:nvPr/>
        </p:nvSpPr>
        <p:spPr>
          <a:xfrm>
            <a:off x="274320" y="1234440"/>
            <a:ext cx="5303520" cy="51206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5518BC-24F9-5AED-1F98-B6E32B3E9E53}"/>
              </a:ext>
            </a:extLst>
          </p:cNvPr>
          <p:cNvSpPr txBox="1"/>
          <p:nvPr/>
        </p:nvSpPr>
        <p:spPr>
          <a:xfrm>
            <a:off x="457200" y="1325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298539-07A9-E4E0-B68D-D0F46018DFF7}"/>
              </a:ext>
            </a:extLst>
          </p:cNvPr>
          <p:cNvSpPr txBox="1"/>
          <p:nvPr/>
        </p:nvSpPr>
        <p:spPr>
          <a:xfrm>
            <a:off x="457200" y="54864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5496"/>
                </a:solidFill>
              </a:rPr>
              <a:t>Why 10k cap?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66AB3-109D-7C75-6C94-F68EDDA71370}"/>
              </a:ext>
            </a:extLst>
          </p:cNvPr>
          <p:cNvSpPr txBox="1"/>
          <p:nvPr/>
        </p:nvSpPr>
        <p:spPr>
          <a:xfrm>
            <a:off x="411480" y="5833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RF is the fast baseline — &lt;1 min training, no GPU needed. Fair comparison point.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DAFA-94B5-071E-9B0F-CD2A57ACE508}"/>
              </a:ext>
            </a:extLst>
          </p:cNvPr>
          <p:cNvSpPr txBox="1"/>
          <p:nvPr/>
        </p:nvSpPr>
        <p:spPr>
          <a:xfrm>
            <a:off x="384050" y="1655882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A2F6A"/>
                </a:solidFill>
              </a:rPr>
              <a:t>Input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972E114-07DA-33EE-8BCC-FAE839D182AC}"/>
              </a:ext>
            </a:extLst>
          </p:cNvPr>
          <p:cNvSpPr txBox="1"/>
          <p:nvPr/>
        </p:nvSpPr>
        <p:spPr>
          <a:xfrm>
            <a:off x="2423160" y="1641681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3A"/>
                </a:solidFill>
              </a:rPr>
              <a:t>(12, 101) CLIMA tensor -- flattened to (1212,)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07301AA-34FE-642D-1C03-0D125B9CBCC0}"/>
              </a:ext>
            </a:extLst>
          </p:cNvPr>
          <p:cNvSpPr txBox="1"/>
          <p:nvPr/>
        </p:nvSpPr>
        <p:spPr>
          <a:xfrm>
            <a:off x="384048" y="1965486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A2F6A"/>
                </a:solidFill>
              </a:rPr>
              <a:t>Dimensionality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720A703-CE89-1CB4-4392-902BA9B1AAF2}"/>
              </a:ext>
            </a:extLst>
          </p:cNvPr>
          <p:cNvSpPr txBox="1"/>
          <p:nvPr/>
        </p:nvSpPr>
        <p:spPr>
          <a:xfrm>
            <a:off x="2423160" y="1965483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3A"/>
                </a:solidFill>
              </a:rPr>
              <a:t>PCA(</a:t>
            </a:r>
            <a:r>
              <a:rPr sz="1000" b="0" i="0" dirty="0" err="1">
                <a:solidFill>
                  <a:srgbClr val="1A1A3A"/>
                </a:solidFill>
              </a:rPr>
              <a:t>n_components</a:t>
            </a:r>
            <a:r>
              <a:rPr sz="1000" b="0" i="0" dirty="0">
                <a:solidFill>
                  <a:srgbClr val="1A1A3A"/>
                </a:solidFill>
              </a:rPr>
              <a:t>=300, whitening=False)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E0A4BBE-75EB-7714-DD20-FA9594832866}"/>
              </a:ext>
            </a:extLst>
          </p:cNvPr>
          <p:cNvSpPr txBox="1"/>
          <p:nvPr/>
        </p:nvSpPr>
        <p:spPr>
          <a:xfrm>
            <a:off x="384048" y="2287009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A2F6A"/>
                </a:solidFill>
              </a:rPr>
              <a:t>PCA variance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2F9A09F-7EC5-9398-BEEF-6DE77B2830C8}"/>
              </a:ext>
            </a:extLst>
          </p:cNvPr>
          <p:cNvSpPr txBox="1"/>
          <p:nvPr/>
        </p:nvSpPr>
        <p:spPr>
          <a:xfrm>
            <a:off x="2423160" y="2287011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3A"/>
                </a:solidFill>
              </a:rPr>
              <a:t>&gt;=95% total variance retained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202E321-9F48-907C-F8A6-CF03A64A72FA}"/>
              </a:ext>
            </a:extLst>
          </p:cNvPr>
          <p:cNvSpPr txBox="1"/>
          <p:nvPr/>
        </p:nvSpPr>
        <p:spPr>
          <a:xfrm>
            <a:off x="384048" y="2600722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A2F6A"/>
                </a:solidFill>
              </a:rPr>
              <a:t>Per-molecule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CE0F0A4-84AE-6FC6-E3E3-B35206867BF3}"/>
              </a:ext>
            </a:extLst>
          </p:cNvPr>
          <p:cNvSpPr txBox="1"/>
          <p:nvPr/>
        </p:nvSpPr>
        <p:spPr>
          <a:xfrm>
            <a:off x="2423160" y="2616352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3A"/>
                </a:solidFill>
              </a:rPr>
              <a:t>12 independent </a:t>
            </a:r>
            <a:r>
              <a:rPr sz="1000" b="0" i="0" dirty="0" err="1">
                <a:solidFill>
                  <a:srgbClr val="1A1A3A"/>
                </a:solidFill>
              </a:rPr>
              <a:t>RandomForestRegressors</a:t>
            </a:r>
            <a:endParaRPr sz="1000" b="0" i="0" dirty="0">
              <a:solidFill>
                <a:srgbClr val="1A1A3A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A18F084-1684-E754-D141-B7B7A538094F}"/>
              </a:ext>
            </a:extLst>
          </p:cNvPr>
          <p:cNvSpPr txBox="1"/>
          <p:nvPr/>
        </p:nvSpPr>
        <p:spPr>
          <a:xfrm>
            <a:off x="384048" y="292225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6A"/>
                </a:solidFill>
              </a:rPr>
              <a:t>n_estimators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B64BB91-C805-6ED8-6251-E4344549CA2A}"/>
              </a:ext>
            </a:extLst>
          </p:cNvPr>
          <p:cNvSpPr txBox="1"/>
          <p:nvPr/>
        </p:nvSpPr>
        <p:spPr>
          <a:xfrm>
            <a:off x="2423160" y="2922250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100 trees per molecule  (1200 trees total)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0EEE086-098B-BFAB-0F44-3D812017406E}"/>
              </a:ext>
            </a:extLst>
          </p:cNvPr>
          <p:cNvSpPr txBox="1"/>
          <p:nvPr/>
        </p:nvSpPr>
        <p:spPr>
          <a:xfrm>
            <a:off x="384048" y="3306299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6A"/>
                </a:solidFill>
              </a:rPr>
              <a:t>max_depth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0307F31-E292-D1EE-181C-BA1CA34398C7}"/>
              </a:ext>
            </a:extLst>
          </p:cNvPr>
          <p:cNvSpPr txBox="1"/>
          <p:nvPr/>
        </p:nvSpPr>
        <p:spPr>
          <a:xfrm>
            <a:off x="2423160" y="3306299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8  (prevents overfitting on 10K sample budget)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78F6A3E-03DD-A962-401F-93DF4CCAA2D1}"/>
              </a:ext>
            </a:extLst>
          </p:cNvPr>
          <p:cNvSpPr txBox="1"/>
          <p:nvPr/>
        </p:nvSpPr>
        <p:spPr>
          <a:xfrm>
            <a:off x="384048" y="3690347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6A"/>
                </a:solidFill>
              </a:rPr>
              <a:t>Training samples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78C95DC-A730-A418-E656-E1024B891434}"/>
              </a:ext>
            </a:extLst>
          </p:cNvPr>
          <p:cNvSpPr txBox="1"/>
          <p:nvPr/>
        </p:nvSpPr>
        <p:spPr>
          <a:xfrm>
            <a:off x="2423160" y="3690347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&lt;= 10,000 per molecule  (memory constraint)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F046F61-0580-B4A9-97A6-D9222F84BC0B}"/>
              </a:ext>
            </a:extLst>
          </p:cNvPr>
          <p:cNvSpPr txBox="1"/>
          <p:nvPr/>
        </p:nvSpPr>
        <p:spPr>
          <a:xfrm>
            <a:off x="384048" y="4074395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6A"/>
                </a:solidFill>
              </a:rPr>
              <a:t>Leaves -- CH4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1C5FA57-9D9B-58B7-2AC6-AAE52610D63C}"/>
              </a:ext>
            </a:extLst>
          </p:cNvPr>
          <p:cNvSpPr txBox="1"/>
          <p:nvPr/>
        </p:nvSpPr>
        <p:spPr>
          <a:xfrm>
            <a:off x="2423160" y="4074395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71-169 per tree; median ~= 110 leaves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80A2316-35D2-36E9-26B0-3787732DE5E9}"/>
              </a:ext>
            </a:extLst>
          </p:cNvPr>
          <p:cNvSpPr txBox="1"/>
          <p:nvPr/>
        </p:nvSpPr>
        <p:spPr>
          <a:xfrm>
            <a:off x="384048" y="4458443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6A"/>
                </a:solidFill>
              </a:rPr>
              <a:t>NH3 trees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858CAE6-7191-9DAF-0990-D70E74056314}"/>
              </a:ext>
            </a:extLst>
          </p:cNvPr>
          <p:cNvSpPr txBox="1"/>
          <p:nvPr/>
        </p:nvSpPr>
        <p:spPr>
          <a:xfrm>
            <a:off x="2423160" y="4458443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Depth=0 (constant -40) -- degenerate target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7F9DC52-E50E-2259-DC2B-661D1E7837C0}"/>
              </a:ext>
            </a:extLst>
          </p:cNvPr>
          <p:cNvSpPr txBox="1"/>
          <p:nvPr/>
        </p:nvSpPr>
        <p:spPr>
          <a:xfrm>
            <a:off x="384048" y="4842491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6A"/>
                </a:solidFill>
              </a:rPr>
              <a:t>Inference speed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B6E814E-20D4-BD6B-C0EF-7FA626256C07}"/>
              </a:ext>
            </a:extLst>
          </p:cNvPr>
          <p:cNvSpPr txBox="1"/>
          <p:nvPr/>
        </p:nvSpPr>
        <p:spPr>
          <a:xfrm>
            <a:off x="2423160" y="4842491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~10 ms per planet (all 12 molecules)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585CFCB-04F6-99AD-F4B2-95A6841764CD}"/>
              </a:ext>
            </a:extLst>
          </p:cNvPr>
          <p:cNvSpPr txBox="1"/>
          <p:nvPr/>
        </p:nvSpPr>
        <p:spPr>
          <a:xfrm>
            <a:off x="384048" y="5226539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6A"/>
                </a:solidFill>
              </a:rPr>
              <a:t>Interpretability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B3CE1F2-B0D8-28ED-AC4A-0A412AF6E275}"/>
              </a:ext>
            </a:extLst>
          </p:cNvPr>
          <p:cNvSpPr txBox="1"/>
          <p:nvPr/>
        </p:nvSpPr>
        <p:spPr>
          <a:xfrm>
            <a:off x="2423160" y="5226539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feature_importance_: top PCA components identified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AB3B458-E3A1-D154-CB42-10D492D44E9F}"/>
              </a:ext>
            </a:extLst>
          </p:cNvPr>
          <p:cNvSpPr txBox="1"/>
          <p:nvPr/>
        </p:nvSpPr>
        <p:spPr>
          <a:xfrm>
            <a:off x="6076932" y="1823713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1A1A3A"/>
                </a:solidFill>
              </a:rPr>
              <a:t>  Strong non-parametric regressor -- no gradient tuning required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3347AB3-EE1D-A0BB-561A-E91BD1E603D9}"/>
              </a:ext>
            </a:extLst>
          </p:cNvPr>
          <p:cNvSpPr txBox="1"/>
          <p:nvPr/>
        </p:nvSpPr>
        <p:spPr>
          <a:xfrm>
            <a:off x="6076932" y="2152897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>
                <a:solidFill>
                  <a:srgbClr val="1A1A3A"/>
                </a:solidFill>
              </a:rPr>
              <a:t>  PCA handles collinearity across 1212 flattened features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34209BE-B2E3-8429-FA4C-833F21D0BF1B}"/>
              </a:ext>
            </a:extLst>
          </p:cNvPr>
          <p:cNvSpPr txBox="1"/>
          <p:nvPr/>
        </p:nvSpPr>
        <p:spPr>
          <a:xfrm>
            <a:off x="6076932" y="2482081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>
                <a:solidFill>
                  <a:srgbClr val="1A1A3A"/>
                </a:solidFill>
              </a:rPr>
              <a:t>  Interpretable: feature_importance_ reveals top PCA components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F2818D-0E60-5185-F302-4BCB1C750190}"/>
              </a:ext>
            </a:extLst>
          </p:cNvPr>
          <p:cNvSpPr txBox="1"/>
          <p:nvPr/>
        </p:nvSpPr>
        <p:spPr>
          <a:xfrm>
            <a:off x="6076932" y="2811266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>
                <a:solidFill>
                  <a:srgbClr val="1A1A3A"/>
                </a:solidFill>
              </a:rPr>
              <a:t>  10K sample cap -&gt; controlled comparison with limited compute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C9D2E0B-49BB-E025-EB3F-849D5658550C}"/>
              </a:ext>
            </a:extLst>
          </p:cNvPr>
          <p:cNvSpPr txBox="1"/>
          <p:nvPr/>
        </p:nvSpPr>
        <p:spPr>
          <a:xfrm>
            <a:off x="6076932" y="3132434"/>
            <a:ext cx="5687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1A1A3A"/>
                </a:solidFill>
              </a:rPr>
              <a:t>  One model per molecule prevents cross-molecule interference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8CEC0A1-8CA6-E2A7-8517-03AC1E831B38}"/>
              </a:ext>
            </a:extLst>
          </p:cNvPr>
          <p:cNvSpPr/>
          <p:nvPr/>
        </p:nvSpPr>
        <p:spPr>
          <a:xfrm>
            <a:off x="5965875" y="3820548"/>
            <a:ext cx="594360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C0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6E894AB-AF33-298A-EC64-98AA571F7FBC}"/>
              </a:ext>
            </a:extLst>
          </p:cNvPr>
          <p:cNvSpPr/>
          <p:nvPr/>
        </p:nvSpPr>
        <p:spPr>
          <a:xfrm>
            <a:off x="5965875" y="3820548"/>
            <a:ext cx="5943600" cy="310896"/>
          </a:xfrm>
          <a:prstGeom prst="rect">
            <a:avLst/>
          </a:prstGeom>
          <a:solidFill>
            <a:srgbClr val="B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243A95C-55D9-91CE-C047-471BCA2562A1}"/>
              </a:ext>
            </a:extLst>
          </p:cNvPr>
          <p:cNvSpPr txBox="1"/>
          <p:nvPr/>
        </p:nvSpPr>
        <p:spPr>
          <a:xfrm>
            <a:off x="6057314" y="385712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6A"/>
                </a:solidFill>
              </a:rPr>
              <a:t>RF Inference Pipeline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37A24E9-CEB2-D186-359A-89AAE3F0B5D6}"/>
              </a:ext>
            </a:extLst>
          </p:cNvPr>
          <p:cNvSpPr txBox="1"/>
          <p:nvPr/>
        </p:nvSpPr>
        <p:spPr>
          <a:xfrm>
            <a:off x="6084747" y="4342616"/>
            <a:ext cx="56875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3A"/>
                </a:solidFill>
              </a:rPr>
              <a:t>(1)  (12,101) -&gt; flatten -&gt; Z-score normalise -&gt; (1212,)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31E2814-3399-0704-1BEA-CF3D71634021}"/>
              </a:ext>
            </a:extLst>
          </p:cNvPr>
          <p:cNvSpPr txBox="1"/>
          <p:nvPr/>
        </p:nvSpPr>
        <p:spPr>
          <a:xfrm>
            <a:off x="6084747" y="4671800"/>
            <a:ext cx="56875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3A"/>
                </a:solidFill>
              </a:rPr>
              <a:t>(2)  PCA.transform: (1212,) -&gt; (300 components)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29B6620-C0F8-408D-54A3-5D276F953789}"/>
              </a:ext>
            </a:extLst>
          </p:cNvPr>
          <p:cNvSpPr txBox="1"/>
          <p:nvPr/>
        </p:nvSpPr>
        <p:spPr>
          <a:xfrm>
            <a:off x="6084747" y="5000984"/>
            <a:ext cx="56875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3A"/>
                </a:solidFill>
              </a:rPr>
              <a:t>(3)  For each molecule: RF.predict(x_pca) -&gt; log10 VMR scalar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D3EBEE2-CBC2-CBC5-2AAE-5339A75C2AB4}"/>
              </a:ext>
            </a:extLst>
          </p:cNvPr>
          <p:cNvSpPr txBox="1"/>
          <p:nvPr/>
        </p:nvSpPr>
        <p:spPr>
          <a:xfrm>
            <a:off x="6084747" y="5330168"/>
            <a:ext cx="56875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3A"/>
                </a:solidFill>
              </a:rPr>
              <a:t>(4)  Stack 12 scalars -&gt; (12,) output vector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9FCE116-D474-1765-67BD-F61DB1A29519}"/>
              </a:ext>
            </a:extLst>
          </p:cNvPr>
          <p:cNvSpPr txBox="1"/>
          <p:nvPr/>
        </p:nvSpPr>
        <p:spPr>
          <a:xfrm>
            <a:off x="6084747" y="5659352"/>
            <a:ext cx="56875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3A"/>
                </a:solidFill>
              </a:rPr>
              <a:t>(5)  MoleculeScaler.inverse_transform -&gt; physical log10 values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890620C5-5EBE-EADA-E86B-1D04EF71C7D3}"/>
              </a:ext>
            </a:extLst>
          </p:cNvPr>
          <p:cNvSpPr/>
          <p:nvPr/>
        </p:nvSpPr>
        <p:spPr>
          <a:xfrm>
            <a:off x="5958060" y="1176600"/>
            <a:ext cx="5943600" cy="310896"/>
          </a:xfrm>
          <a:prstGeom prst="rect">
            <a:avLst/>
          </a:prstGeom>
          <a:solidFill>
            <a:srgbClr val="B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5225477-933B-EE81-2941-0C7694A815E9}"/>
              </a:ext>
            </a:extLst>
          </p:cNvPr>
          <p:cNvSpPr txBox="1"/>
          <p:nvPr/>
        </p:nvSpPr>
        <p:spPr>
          <a:xfrm>
            <a:off x="6049499" y="121317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2F6A"/>
                </a:solidFill>
              </a:rPr>
              <a:t>Why RF as Baseline?</a:t>
            </a:r>
          </a:p>
        </p:txBody>
      </p:sp>
    </p:spTree>
    <p:extLst>
      <p:ext uri="{BB962C8B-B14F-4D97-AF65-F5344CB8AC3E}">
        <p14:creationId xmlns:p14="http://schemas.microsoft.com/office/powerpoint/2010/main" val="398197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D1C2-B742-CE11-B66E-A7D8ED39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DE412-AF8B-E9CC-C0CD-CCA0B727DB38}"/>
              </a:ext>
            </a:extLst>
          </p:cNvPr>
          <p:cNvSpPr/>
          <p:nvPr/>
        </p:nvSpPr>
        <p:spPr>
          <a:xfrm>
            <a:off x="-13717" y="726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12418-314B-F4C0-CC0D-402A6D70315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FD0CF-D5F0-E798-4CF3-1686123CA12B}"/>
              </a:ext>
            </a:extLst>
          </p:cNvPr>
          <p:cNvSpPr txBox="1"/>
          <p:nvPr/>
        </p:nvSpPr>
        <p:spPr>
          <a:xfrm>
            <a:off x="32004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Baseline Model </a:t>
            </a:r>
            <a:r>
              <a:rPr lang="en-US" sz="2800" b="1" i="0" dirty="0">
                <a:solidFill>
                  <a:srgbClr val="FFFFFF"/>
                </a:solidFill>
              </a:rPr>
              <a:t>-</a:t>
            </a:r>
            <a:r>
              <a:rPr sz="2800" b="1" i="0" dirty="0">
                <a:solidFill>
                  <a:srgbClr val="FFFFFF"/>
                </a:solidFill>
              </a:rPr>
              <a:t> Random Forest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5ADBF-F3A3-E41A-4B54-6DE5B3F289E4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59885-1700-E8C7-F66F-CB420023A1D6}"/>
              </a:ext>
            </a:extLst>
          </p:cNvPr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C80303CD-ADE0-3E69-6CD3-F392390499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88"/>
          <a:stretch>
            <a:fillRect/>
          </a:stretch>
        </p:blipFill>
        <p:spPr>
          <a:xfrm>
            <a:off x="128015" y="1319916"/>
            <a:ext cx="11905488" cy="473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34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Deep Model </a:t>
            </a:r>
            <a:r>
              <a:rPr lang="en-US" sz="2800" b="1" i="0" dirty="0">
                <a:solidFill>
                  <a:srgbClr val="FFFFFF"/>
                </a:solidFill>
              </a:rPr>
              <a:t>-</a:t>
            </a:r>
            <a:r>
              <a:rPr sz="2800" b="1" i="0" dirty="0">
                <a:solidFill>
                  <a:srgbClr val="FFFFFF"/>
                </a:solidFill>
              </a:rPr>
              <a:t> Key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Every design decision is motivated by the data's properties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664208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A0"/>
                </a:solidFill>
              </a:rPr>
              <a:t>1D Convolutions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28216"/>
            <a:ext cx="5303520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 dirty="0">
                <a:solidFill>
                  <a:srgbClr val="1A1A2E"/>
                </a:solidFill>
              </a:rPr>
              <a:t>CLIMA profiles are 1D sequences over altitude. 1D CNNs detect local patterns (e.g. temperature inversion at levels 20–30) and learn hierarchical altitude features across multiple scales — something PCA cannot 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6642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Progressive Downsampling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28216"/>
            <a:ext cx="5303520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 dirty="0">
                <a:solidFill>
                  <a:srgbClr val="1A1A2E"/>
                </a:solidFill>
              </a:rPr>
              <a:t>Four conv blocks with decreasing kernel sizes (9→7→5→3) and stride-2 + </a:t>
            </a:r>
            <a:r>
              <a:rPr sz="1150" b="0" i="0" dirty="0" err="1">
                <a:solidFill>
                  <a:srgbClr val="1A1A2E"/>
                </a:solidFill>
              </a:rPr>
              <a:t>MaxPool</a:t>
            </a:r>
            <a:r>
              <a:rPr sz="1150" b="0" i="0" dirty="0">
                <a:solidFill>
                  <a:srgbClr val="1A1A2E"/>
                </a:solidFill>
              </a:rPr>
              <a:t> compress 101 altitude levels down to 1. Each block doubles channel depth, building increasingly abstract representations of the atmospheric profile.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109728" cy="166420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5496"/>
                </a:solidFill>
              </a:rPr>
              <a:t>Shared 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511296"/>
            <a:ext cx="5303520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 dirty="0">
                <a:solidFill>
                  <a:srgbClr val="1A1A2E"/>
                </a:solidFill>
              </a:rPr>
              <a:t>The CNN backbone learns general atmospheric representations useful for all 12 molecules simultaneously — multi-task learning. The shared 128-d embedding carries information about atmospheric state that each head then </a:t>
            </a:r>
            <a:r>
              <a:rPr sz="1150" b="0" i="0" dirty="0" err="1">
                <a:solidFill>
                  <a:srgbClr val="1A1A2E"/>
                </a:solidFill>
              </a:rPr>
              <a:t>specialises</a:t>
            </a:r>
            <a:r>
              <a:rPr sz="1150" b="0" i="0" dirty="0">
                <a:solidFill>
                  <a:srgbClr val="1A1A2E"/>
                </a:solidFill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1752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17520"/>
            <a:ext cx="109728" cy="1664208"/>
          </a:xfrm>
          <a:prstGeom prst="rect">
            <a:avLst/>
          </a:prstGeom>
          <a:solidFill>
            <a:srgbClr val="17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5486"/>
                </a:solidFill>
              </a:rPr>
              <a:t>Per-Molecule Heads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511296"/>
            <a:ext cx="5303520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 dirty="0">
                <a:solidFill>
                  <a:srgbClr val="1A1A2E"/>
                </a:solidFill>
              </a:rPr>
              <a:t>Each molecule has its own MLP head with tuned depth and dropout. Trace species (H₂S, SO₂, NH₃) get higher dropout (0.25) to prevent overfitting. Stable species (CO₂, O₂) get lighter heads with lower dropout (0.15).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0060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109728" cy="166420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5496"/>
                </a:solidFill>
              </a:rPr>
              <a:t>Weighted MSE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294376"/>
            <a:ext cx="5303520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 dirty="0">
                <a:solidFill>
                  <a:srgbClr val="1A1A2E"/>
                </a:solidFill>
              </a:rPr>
              <a:t>Standard MSE would let easy molecules dominate. Weights (1.0–2.0) upweight trace species (SO₂, NH₃ at 2.0). Targets are Z-score </a:t>
            </a:r>
            <a:r>
              <a:rPr sz="1150" b="0" i="0" dirty="0" err="1">
                <a:solidFill>
                  <a:srgbClr val="1A1A2E"/>
                </a:solidFill>
              </a:rPr>
              <a:t>normalised</a:t>
            </a:r>
            <a:r>
              <a:rPr sz="1150" b="0" i="0" dirty="0">
                <a:solidFill>
                  <a:srgbClr val="1A1A2E"/>
                </a:solidFill>
              </a:rPr>
              <a:t> before training (</a:t>
            </a:r>
            <a:r>
              <a:rPr sz="1150" b="0" i="0" dirty="0" err="1">
                <a:solidFill>
                  <a:srgbClr val="1A1A2E"/>
                </a:solidFill>
              </a:rPr>
              <a:t>MoleculeScaler</a:t>
            </a:r>
            <a:r>
              <a:rPr sz="1150" b="0" i="0" dirty="0">
                <a:solidFill>
                  <a:srgbClr val="1A1A2E"/>
                </a:solidFill>
              </a:rPr>
              <a:t>) to </a:t>
            </a:r>
            <a:r>
              <a:rPr sz="1150" b="0" i="0" dirty="0" err="1">
                <a:solidFill>
                  <a:srgbClr val="1A1A2E"/>
                </a:solidFill>
              </a:rPr>
              <a:t>equalise</a:t>
            </a:r>
            <a:r>
              <a:rPr sz="1150" b="0" i="0" dirty="0">
                <a:solidFill>
                  <a:srgbClr val="1A1A2E"/>
                </a:solidFill>
              </a:rPr>
              <a:t> loss scale — inverse-transformed for evaluation.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80060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800600"/>
            <a:ext cx="109728" cy="16642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</a:rPr>
              <a:t>Gaussian Noise Augmentation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294376"/>
            <a:ext cx="5303520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 dirty="0">
                <a:solidFill>
                  <a:srgbClr val="1A1A2E"/>
                </a:solidFill>
              </a:rPr>
              <a:t>Adding noise std=0.01 to training profiles prevents </a:t>
            </a:r>
            <a:r>
              <a:rPr sz="1150" b="0" i="0" dirty="0" err="1">
                <a:solidFill>
                  <a:srgbClr val="1A1A2E"/>
                </a:solidFill>
              </a:rPr>
              <a:t>memorisation</a:t>
            </a:r>
            <a:r>
              <a:rPr sz="1150" b="0" i="0" dirty="0">
                <a:solidFill>
                  <a:srgbClr val="1A1A2E"/>
                </a:solidFill>
              </a:rPr>
              <a:t> of exact profile values. Forces the CNN to learn robust features that </a:t>
            </a:r>
            <a:r>
              <a:rPr sz="1150" b="0" i="0" dirty="0" err="1">
                <a:solidFill>
                  <a:srgbClr val="1A1A2E"/>
                </a:solidFill>
              </a:rPr>
              <a:t>generalise</a:t>
            </a:r>
            <a:r>
              <a:rPr sz="1150" b="0" i="0" dirty="0">
                <a:solidFill>
                  <a:srgbClr val="1A1A2E"/>
                </a:solidFill>
              </a:rPr>
              <a:t> to unseen atmospheric states — analogous to image augmentation in vision CNNs.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Deep Model </a:t>
            </a:r>
            <a:r>
              <a:rPr lang="en-US" sz="2800" b="1" i="0" dirty="0">
                <a:solidFill>
                  <a:srgbClr val="FFFFFF"/>
                </a:solidFill>
              </a:rPr>
              <a:t>-</a:t>
            </a:r>
            <a:r>
              <a:rPr sz="2800" b="1" i="0" dirty="0">
                <a:solidFill>
                  <a:srgbClr val="FFFFFF"/>
                </a:solidFill>
              </a:rPr>
              <a:t> 1D CNN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13941"/>
            <a:ext cx="2148840" cy="484631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68880" y="1713941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31920" y="1713941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768805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768805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12, 101)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768805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Normalised CLIMA profile — 12 channels × 101 altitude levels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35149"/>
            <a:ext cx="2148840" cy="48463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68880" y="2235149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31920" y="2235149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290013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Conv Block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290013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32, 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2290013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Conv1d(12→32, k=9, s=2, p=4)  +  BatchNorm  +  ReLU  +  MaxPool1d(2)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56357"/>
            <a:ext cx="2148840" cy="48463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68880" y="2756357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31920" y="2756357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2811221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Conv Block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811221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64, 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2811221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Conv1d(32→64, k=7, s=2, p=3)  +  BatchNorm  +  ReLU  +  MaxPool1d(2)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77565"/>
            <a:ext cx="2148840" cy="484631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468880" y="3277565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931920" y="3277565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3332429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Conv Block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332429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128, 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3332429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Conv1d(64→128, k=5, s=2, p=2)  +  BatchNorm  +  ReLU  +  MaxPool1d(2)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98773"/>
            <a:ext cx="2148840" cy="484631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68880" y="3798773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931920" y="3798773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3853637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Conv Block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3853637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256, 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5072" y="3853637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Conv1d(128→256, k=3, s=1, p=1)  +  BatchNorm  +  ReLU  (no MaxPool)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319980"/>
            <a:ext cx="2148840" cy="4846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468880" y="4319980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931920" y="4319980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4374844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GlobalAvgPool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4374844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256)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4374844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AdaptiveAvgPool1d(1) + Flatten — squeeze altitude dimension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841189"/>
            <a:ext cx="2148840" cy="4846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468880" y="4841189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931920" y="4841189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" y="4896052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Shared FC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896052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128)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5072" y="4896052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Dropout(0.25)  +  FC(256→128)  +  LayerNorm  +  ReLU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362397"/>
            <a:ext cx="2148840" cy="484631"/>
          </a:xfrm>
          <a:prstGeom prst="rect">
            <a:avLst/>
          </a:prstGeom>
          <a:solidFill>
            <a:srgbClr val="17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468880" y="5362397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931920" y="5362397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5417260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12 × Head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417260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5496"/>
                </a:solidFill>
              </a:rPr>
              <a:t>(B, 12)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5072" y="5417260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Per-molecule MLP: FC(128→hidden→1)  +  LN  +  ReLU  +  Dropout → scalar log₁₀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649933"/>
            <a:ext cx="214884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468880" y="1649933"/>
            <a:ext cx="14173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931920" y="1649933"/>
            <a:ext cx="795527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132431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Layer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4600" y="132431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</a:rPr>
              <a:t>Output shape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87952" y="1324314"/>
            <a:ext cx="32942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F3864"/>
                </a:solidFill>
              </a:rPr>
              <a:t>Description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49511" y="2427955"/>
            <a:ext cx="15433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A6BA0"/>
                </a:solidFill>
              </a:rPr>
              <a:t>Conv Block: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9511" y="2756577"/>
            <a:ext cx="1543329" cy="1222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1" dirty="0">
                <a:solidFill>
                  <a:srgbClr val="555555"/>
                </a:solidFill>
              </a:rPr>
              <a:t>Conv1d (</a:t>
            </a:r>
            <a:r>
              <a:rPr sz="1000" b="0" i="1" dirty="0" err="1">
                <a:solidFill>
                  <a:srgbClr val="555555"/>
                </a:solidFill>
              </a:rPr>
              <a:t>k,s,p</a:t>
            </a:r>
            <a:r>
              <a:rPr sz="1000" b="0" i="1" dirty="0">
                <a:solidFill>
                  <a:srgbClr val="555555"/>
                </a:solidFill>
              </a:rPr>
              <a:t>)
+ BatchNorm1d
+ </a:t>
            </a:r>
            <a:r>
              <a:rPr sz="1000" b="0" i="1" dirty="0" err="1">
                <a:solidFill>
                  <a:srgbClr val="555555"/>
                </a:solidFill>
              </a:rPr>
              <a:t>ReLU</a:t>
            </a:r>
            <a:r>
              <a:rPr sz="1000" b="0" i="1" dirty="0">
                <a:solidFill>
                  <a:srgbClr val="555555"/>
                </a:solidFill>
              </a:rPr>
              <a:t>
+ MaxPool1d(2)
[Block 4: no </a:t>
            </a:r>
            <a:r>
              <a:rPr sz="1000" b="0" i="1" dirty="0" err="1">
                <a:solidFill>
                  <a:srgbClr val="555555"/>
                </a:solidFill>
              </a:rPr>
              <a:t>MaxPool</a:t>
            </a:r>
            <a:r>
              <a:rPr sz="1000" b="0" i="1" dirty="0">
                <a:solidFill>
                  <a:srgbClr val="555555"/>
                </a:solidFill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237A94-844B-5DC0-60B9-D00DFBBB17E7}"/>
              </a:ext>
            </a:extLst>
          </p:cNvPr>
          <p:cNvSpPr txBox="1"/>
          <p:nvPr/>
        </p:nvSpPr>
        <p:spPr>
          <a:xfrm>
            <a:off x="320040" y="74683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Sequential convolutional backbone + 12 per-molecule output heads  |  368,588 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CCDDFF"/>
                </a:solidFill>
              </a:rPr>
              <a:t>AdamW</a:t>
            </a:r>
            <a:r>
              <a:rPr sz="1100" b="0" i="0" dirty="0">
                <a:solidFill>
                  <a:srgbClr val="CCDDFF"/>
                </a:solidFill>
              </a:rPr>
              <a:t> · Cosine LR schedule · Early stopping · Gradient clipping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212080" cy="524865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F3864"/>
                </a:solidFill>
              </a:rPr>
              <a:t>Training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27423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F3864"/>
                </a:solidFill>
              </a:rP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27423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1A1A2E"/>
                </a:solidFill>
              </a:rPr>
              <a:t>AdamW</a:t>
            </a:r>
            <a:endParaRPr sz="1100" b="0" i="0" dirty="0">
              <a:solidFill>
                <a:srgbClr val="1A1A2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2084039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Learning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84039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 × 10⁻³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40655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Weight decay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40655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 × 10⁻⁴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97271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97271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CosineAnnealingLR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53887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T_max / eta_min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15388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150 / 1 × 10⁻⁶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510503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Max 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10503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867119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Early stop patience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67119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30 epochs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23735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Min delta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223735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 × 10⁻⁵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580351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Batch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80351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32 (train) / 64 (eval)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936967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Grad clip norm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93696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93583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Noise augmentation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293583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std = 0.01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650199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Dataset (train)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650199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1</a:t>
            </a:r>
            <a:r>
              <a:rPr lang="en-US" sz="1100" b="0" i="0" dirty="0">
                <a:solidFill>
                  <a:srgbClr val="1A1A2E"/>
                </a:solidFill>
              </a:rPr>
              <a:t>8</a:t>
            </a:r>
            <a:r>
              <a:rPr sz="1100" b="0" i="0" dirty="0">
                <a:solidFill>
                  <a:srgbClr val="1A1A2E"/>
                </a:solidFill>
              </a:rPr>
              <a:t>,</a:t>
            </a:r>
            <a:r>
              <a:rPr lang="en-US" sz="1100" b="0" i="0" dirty="0">
                <a:solidFill>
                  <a:srgbClr val="1A1A2E"/>
                </a:solidFill>
              </a:rPr>
              <a:t>648</a:t>
            </a:r>
            <a:r>
              <a:rPr sz="1100" b="0" i="0" dirty="0">
                <a:solidFill>
                  <a:srgbClr val="1A1A2E"/>
                </a:solidFill>
              </a:rPr>
              <a:t> samples (</a:t>
            </a:r>
            <a:r>
              <a:rPr lang="en-US" sz="1100" b="0" i="0" dirty="0">
                <a:solidFill>
                  <a:srgbClr val="1A1A2E"/>
                </a:solidFill>
              </a:rPr>
              <a:t>1</a:t>
            </a:r>
            <a:r>
              <a:rPr sz="1100" b="0" i="0" dirty="0">
                <a:solidFill>
                  <a:srgbClr val="1A1A2E"/>
                </a:solidFill>
              </a:rPr>
              <a:t>2</a:t>
            </a:r>
            <a:r>
              <a:rPr lang="en-US" sz="1100" b="0" i="0" dirty="0">
                <a:solidFill>
                  <a:srgbClr val="1A1A2E"/>
                </a:solidFill>
              </a:rPr>
              <a:t>4</a:t>
            </a:r>
            <a:r>
              <a:rPr sz="1100" b="0" i="0" dirty="0">
                <a:solidFill>
                  <a:srgbClr val="1A1A2E"/>
                </a:solidFill>
              </a:rPr>
              <a:t>k run)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006815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Target normalisation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96774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Z-score per molecule (</a:t>
            </a:r>
            <a:r>
              <a:rPr sz="1100" b="0" i="0" dirty="0" err="1">
                <a:solidFill>
                  <a:srgbClr val="1A1A2E"/>
                </a:solidFill>
              </a:rPr>
              <a:t>MoleculeScaler</a:t>
            </a:r>
            <a:r>
              <a:rPr sz="1100" b="0" i="0" dirty="0">
                <a:solidFill>
                  <a:srgbClr val="1A1A2E"/>
                </a:solidFill>
              </a:rPr>
              <a:t>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1234440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60720" y="1234440"/>
            <a:ext cx="91440" cy="1170432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0" y="132588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A0"/>
                </a:solidFill>
              </a:rPr>
              <a:t>AdamW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1691640"/>
            <a:ext cx="5760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Adam with decoupled weight decay — L2 regularisation is applied directly to weights, independent of the adaptive gradient. Better generalisation than standard Adam.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496312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2" name="Rectangle 41"/>
          <p:cNvSpPr/>
          <p:nvPr/>
        </p:nvSpPr>
        <p:spPr>
          <a:xfrm>
            <a:off x="5760720" y="2496312"/>
            <a:ext cx="91440" cy="1170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3" name="TextBox 42"/>
          <p:cNvSpPr txBox="1"/>
          <p:nvPr/>
        </p:nvSpPr>
        <p:spPr>
          <a:xfrm>
            <a:off x="5943600" y="2587752"/>
            <a:ext cx="5760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Cosine Annealing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2953512"/>
            <a:ext cx="5760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LR starts at 1e-3, smoothly decays to 1e-6 following a cosine curve. No sharp drops. Naturally slows near minima to avoid oscillation.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3758183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6" name="Rectangle 45"/>
          <p:cNvSpPr/>
          <p:nvPr/>
        </p:nvSpPr>
        <p:spPr>
          <a:xfrm>
            <a:off x="5760720" y="3758183"/>
            <a:ext cx="91440" cy="117043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7" name="TextBox 46"/>
          <p:cNvSpPr txBox="1"/>
          <p:nvPr/>
        </p:nvSpPr>
        <p:spPr>
          <a:xfrm>
            <a:off x="5943600" y="3849623"/>
            <a:ext cx="5760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5496"/>
                </a:solidFill>
              </a:rPr>
              <a:t>Early Stopping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215383"/>
            <a:ext cx="5760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Monitors val_loss. If no improvement &gt; 1e-5 for 30 epochs, training stops and the best checkpoint is restored — prevents overfitting at zero extra cost.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5020056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0" name="Rectangle 49"/>
          <p:cNvSpPr/>
          <p:nvPr/>
        </p:nvSpPr>
        <p:spPr>
          <a:xfrm>
            <a:off x="5760720" y="5020056"/>
            <a:ext cx="91440" cy="1170432"/>
          </a:xfrm>
          <a:prstGeom prst="rect">
            <a:avLst/>
          </a:prstGeom>
          <a:solidFill>
            <a:srgbClr val="17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1" name="TextBox 50"/>
          <p:cNvSpPr txBox="1"/>
          <p:nvPr/>
        </p:nvSpPr>
        <p:spPr>
          <a:xfrm>
            <a:off x="5943600" y="5111496"/>
            <a:ext cx="5760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486"/>
                </a:solidFill>
              </a:rPr>
              <a:t>Gradient Clipping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477256"/>
            <a:ext cx="5760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If gradient norm &gt; 5.0, all gradients are scaled down proportionally. Prevents exploding gradient spikes that destabilise early training.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Held-out test set · Per-molecule R², RMSE, MAE · Unified comparison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749039" cy="251460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30759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R²
Coefficient of Determination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011680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048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BA0"/>
                </a:solidFill>
              </a:rPr>
              <a:t>1 − Σ(y − ŷ)² / Σ(y − ȳ)²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23744"/>
            <a:ext cx="3474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Primary metric. Scale-normalised — 0.75 means '75% of variance explained' regardless of molecule. Enables fair cross-molecule comparison. R² &lt; 0 means worse than predicting the mean.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49039" cy="2514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30759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RMSE
Root Mean Squared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011680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048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√[Σ(y − ŷ)² / 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23744"/>
            <a:ext cx="3474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 log₁₀ units (orders of magnitude). Penalises large errors more than MAE. A RMSE of 0.5 means predictions are typically ½ an order of magnitude off.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2514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30759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MAE
Mean Absolute 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011680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048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5496"/>
                </a:solidFill>
              </a:rPr>
              <a:t>Σ|y − ŷ| /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23744"/>
            <a:ext cx="3474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Also in log₁₀ units. More robust to outliers than RMSE. Complementary to RMSE — if RMSE &gt;&gt; MAE, there are a few large prediction errors dominating.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11612880" cy="2240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005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Evaluation Fairness Principles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Same test set: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434840"/>
            <a:ext cx="361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Both models evaluated on the identical </a:t>
            </a:r>
            <a:r>
              <a:rPr lang="en-US" sz="1200" b="0" i="0" dirty="0">
                <a:solidFill>
                  <a:srgbClr val="1A1A2E"/>
                </a:solidFill>
              </a:rPr>
              <a:t>18</a:t>
            </a:r>
            <a:r>
              <a:rPr sz="1200" b="0" i="0" dirty="0">
                <a:solidFill>
                  <a:srgbClr val="1A1A2E"/>
                </a:solidFill>
              </a:rPr>
              <a:t>,</a:t>
            </a:r>
            <a:r>
              <a:rPr lang="en-US" sz="1200" b="0" i="0" dirty="0">
                <a:solidFill>
                  <a:srgbClr val="1A1A2E"/>
                </a:solidFill>
              </a:rPr>
              <a:t>468</a:t>
            </a:r>
            <a:r>
              <a:rPr sz="1200" b="0" i="0" dirty="0">
                <a:solidFill>
                  <a:srgbClr val="1A1A2E"/>
                </a:solidFill>
              </a:rPr>
              <a:t>-sample test split, fixed in Step 2 with seed=42. Scores are directly comparable.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Intentionally asymmetric training: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34840"/>
            <a:ext cx="3611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RF uses 10k samples; CNN uses 1</a:t>
            </a:r>
            <a:r>
              <a:rPr lang="en-US" sz="1200" b="0" i="0" dirty="0">
                <a:solidFill>
                  <a:srgbClr val="1A1A2E"/>
                </a:solidFill>
              </a:rPr>
              <a:t>24</a:t>
            </a:r>
            <a:r>
              <a:rPr sz="1200" b="0" i="0" dirty="0">
                <a:solidFill>
                  <a:srgbClr val="1A1A2E"/>
                </a:solidFill>
              </a:rPr>
              <a:t>k. The comparison is baseline vs deep model — not equal-data ablation.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056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Per-molecule granularity: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056631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Reporting R²/RMSE/MAE for each of 12 molecules reveals which species each model handles well or poorly.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056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Mean R² summary: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056631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Unweighted mean across 12 molecules provides a single-number comparison. NH₃ and N₂ drag it down for both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59C6-0F33-D354-9B13-15D0CA94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474A86-8D0E-75DB-ACFE-4F7550FB624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6509CF-E3EF-E657-C98B-6DD6BDF7A8A9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3F2A2-19FE-5D3E-5A57-19C214326101}"/>
              </a:ext>
            </a:extLst>
          </p:cNvPr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Results — Per-Molecule Test R²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C5D0C-8A36-E518-C080-44EADA134717}"/>
              </a:ext>
            </a:extLst>
          </p:cNvPr>
          <p:cNvSpPr txBox="1"/>
          <p:nvPr/>
        </p:nvSpPr>
        <p:spPr>
          <a:xfrm>
            <a:off x="463163" y="1056315"/>
            <a:ext cx="3798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</a:rPr>
              <a:t>Test 18,648 out of 124k </a:t>
            </a:r>
            <a:r>
              <a:rPr sz="1300" b="1" i="0" dirty="0">
                <a:solidFill>
                  <a:srgbClr val="002060"/>
                </a:solidFill>
              </a:rPr>
              <a:t>samples </a:t>
            </a:r>
            <a:r>
              <a:rPr lang="en-US" sz="1300" b="1" i="0" dirty="0">
                <a:solidFill>
                  <a:srgbClr val="002060"/>
                </a:solidFill>
              </a:rPr>
              <a:t> - HPC Evaluation</a:t>
            </a:r>
            <a:endParaRPr sz="1300" b="1" i="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7BF5B-E099-6E64-F9BA-8E51A28C67E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31884-785F-129D-855F-0CEEE4D01B61}"/>
              </a:ext>
            </a:extLst>
          </p:cNvPr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48F113-6C53-38F6-53B8-332F29128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18911"/>
            <a:ext cx="4721421" cy="2610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8D3D0B65-777F-C66C-3F61-526A58614CFA}"/>
              </a:ext>
            </a:extLst>
          </p:cNvPr>
          <p:cNvSpPr txBox="1"/>
          <p:nvPr/>
        </p:nvSpPr>
        <p:spPr>
          <a:xfrm>
            <a:off x="320040" y="4068682"/>
            <a:ext cx="453224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>
                <a:effectLst/>
              </a:rPr>
              <a:t>Table VI. HPC test results — full 124K dataset, 18,648 test samples. † H2O has near-zero target variance (std ≈ 0.0002); both models achieve RMSE ≈ 0 — R2 is deceptive due to near-zero denominator. ‡ NH3 is constant (log10</a:t>
            </a:r>
            <a:r>
              <a:rPr lang="en-US" sz="900" dirty="0"/>
              <a:t> </a:t>
            </a:r>
            <a:r>
              <a:rPr lang="en-US" sz="900" dirty="0">
                <a:effectLst/>
              </a:rPr>
              <a:t>= −40) across all samples; both models</a:t>
            </a:r>
            <a:r>
              <a:rPr lang="en-US" sz="900" dirty="0"/>
              <a:t> </a:t>
            </a:r>
            <a:r>
              <a:rPr lang="en-US" sz="900" dirty="0">
                <a:effectLst/>
              </a:rPr>
              <a:t>trivially achieve R2 = 1.0. ∆R2 = CNN1D − RF; green = CNN1D wins. CNN1D outperforms RF on all 12 molecules.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2AB0A9-02A4-118E-3EC3-6ECBC8BCD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037" y="1318911"/>
            <a:ext cx="5004803" cy="26108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78466D-CD36-B672-FF01-B5CC82627953}"/>
              </a:ext>
            </a:extLst>
          </p:cNvPr>
          <p:cNvSpPr txBox="1"/>
          <p:nvPr/>
        </p:nvSpPr>
        <p:spPr>
          <a:xfrm>
            <a:off x="6625425" y="1056315"/>
            <a:ext cx="429171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</a:rPr>
              <a:t>S</a:t>
            </a:r>
            <a:r>
              <a:rPr sz="1300" b="1" i="0" dirty="0">
                <a:solidFill>
                  <a:srgbClr val="002060"/>
                </a:solidFill>
              </a:rPr>
              <a:t>et: </a:t>
            </a:r>
            <a:r>
              <a:rPr lang="en-US" sz="1300" b="1" i="0" dirty="0">
                <a:solidFill>
                  <a:srgbClr val="002060"/>
                </a:solidFill>
              </a:rPr>
              <a:t>18648</a:t>
            </a:r>
            <a:r>
              <a:rPr sz="1300" b="1" i="0" dirty="0">
                <a:solidFill>
                  <a:srgbClr val="002060"/>
                </a:solidFill>
              </a:rPr>
              <a:t> samples — </a:t>
            </a:r>
            <a:r>
              <a:rPr lang="en-US" sz="1300" b="1" i="0" dirty="0">
                <a:solidFill>
                  <a:srgbClr val="002060"/>
                </a:solidFill>
              </a:rPr>
              <a:t>confirms no sign of overfitting</a:t>
            </a:r>
            <a:endParaRPr sz="1300" b="1" i="0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603E3F-8C0E-722E-19C1-30A80F67E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833" y="4192373"/>
            <a:ext cx="6567952" cy="2206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2065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What the results tell us about ML-based atmospheric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57276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475488" y="132588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5496"/>
                </a:solidFill>
              </a:rPr>
              <a:t>🌟  Deep model wins on all 12 molecules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3736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The 1D CNN outperforms or matches the RF on every molecule. 11/12 molecules reach R²&gt;0.998 — near-perfect atmospheric retrieval from CLIMA profiles.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572768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6419088" y="132588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A0"/>
                </a:solidFill>
              </a:rPr>
              <a:t>📈  Largest relative gains: H₂O, O₂, O₃, N₂, H₂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3736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H₂O (+105%), O₂ (+36%), O₃ (+35%), N₂ (+36%), H₂ (+34%) — CNN's spatial feature extraction captures altitude-dependent patterns that flat PCA vectors cannot encode.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109728" cy="1572768"/>
          </a:xfrm>
          <a:prstGeom prst="rect">
            <a:avLst/>
          </a:prstGeom>
          <a:solidFill>
            <a:srgbClr val="17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475488" y="301752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486"/>
                </a:solidFill>
              </a:rPr>
              <a:t>🏆  RF baseline also very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42900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Mean RF R²=0.82 — the baseline is no longer weak. CH₄ (0.94), CO (0.94), H₂S (0.94) are already well-predicted by PCA + RF. CNN adds consistent improvement on top.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109728" cy="15727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6419088" y="301752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🔬  All biosignatures near-perfectly retrieved by 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2900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O₂ (0.999), O₃ (0.999), CH₄ (1.000), N₂O (0.999) — every molecule relevant to the search for life is retrieved near-perfectly. Critical validation for JWST science.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1772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Rectangle 25"/>
          <p:cNvSpPr/>
          <p:nvPr/>
        </p:nvSpPr>
        <p:spPr>
          <a:xfrm>
            <a:off x="274320" y="4617720"/>
            <a:ext cx="109728" cy="157276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475488" y="470916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F5496"/>
                </a:solidFill>
              </a:rPr>
              <a:t>⚠️  NH₃ — degenerate, not physically learnable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12064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R²=1.0 for both models because all samples are at the log-floor (−40). Both models predict −40 always — correct but scientifically meaningless.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1772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Rectangle 29"/>
          <p:cNvSpPr/>
          <p:nvPr/>
        </p:nvSpPr>
        <p:spPr>
          <a:xfrm>
            <a:off x="6217920" y="4617720"/>
            <a:ext cx="109728" cy="157276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6419088" y="470916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💡  Multi-task learning amplifies CNN advantage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120640"/>
            <a:ext cx="53035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The shared backbone trains on all 12 targets simultaneously. Cross-molecule correlations (O₂/O₃, H₂O/CH₄ co-variation) are encoded in the 128-d shared embedding, giving the CNN a structural advantage the RF cannot replicate.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Comparison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Baseline RF vs 1D CNN — design, compute, and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0BDB2B-A825-8331-0F38-C86BBFB8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381199"/>
              </p:ext>
            </p:extLst>
          </p:nvPr>
        </p:nvGraphicFramePr>
        <p:xfrm>
          <a:off x="144700" y="1134884"/>
          <a:ext cx="5270137" cy="51551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9609">
                  <a:extLst>
                    <a:ext uri="{9D8B030D-6E8A-4147-A177-3AD203B41FA5}">
                      <a16:colId xmlns:a16="http://schemas.microsoft.com/office/drawing/2014/main" val="2987656130"/>
                    </a:ext>
                  </a:extLst>
                </a:gridCol>
                <a:gridCol w="1897792">
                  <a:extLst>
                    <a:ext uri="{9D8B030D-6E8A-4147-A177-3AD203B41FA5}">
                      <a16:colId xmlns:a16="http://schemas.microsoft.com/office/drawing/2014/main" val="3877727853"/>
                    </a:ext>
                  </a:extLst>
                </a:gridCol>
                <a:gridCol w="1992736">
                  <a:extLst>
                    <a:ext uri="{9D8B030D-6E8A-4147-A177-3AD203B41FA5}">
                      <a16:colId xmlns:a16="http://schemas.microsoft.com/office/drawing/2014/main" val="3048006827"/>
                    </a:ext>
                  </a:extLst>
                </a:gridCol>
              </a:tblGrid>
              <a:tr h="322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marL="74196" marR="74196" marT="37098" marB="37098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Random Forest (Baseline)</a:t>
                      </a:r>
                    </a:p>
                  </a:txBody>
                  <a:tcPr marL="74196" marR="74196" marT="37098" marB="37098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1D CNN (Deep)</a:t>
                      </a:r>
                    </a:p>
                  </a:txBody>
                  <a:tcPr marL="74196" marR="74196" marT="37098" marB="37098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337478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Architecture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12 independent RFs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1D CNN + 12 heads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560831067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Input format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Flat PCA vector (300-d)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2D tensor (12 × 101)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1539113360"/>
                  </a:ext>
                </a:extLst>
              </a:tr>
              <a:tr h="59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Feature extraction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PCA — linear, pre-computed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Learned convolutional filters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1006361523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Multi-task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None — fully independent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Yes — shared backbone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1143258540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Training samples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10,000 (hard cap)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87,024 (full training split)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2990916413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Training time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&lt; 1 min (CPU)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10–20 min (MPS/GPU)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3081448357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Parameters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Non-parametric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~300k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3634033996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GPU required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No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Recommended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2084756254"/>
                  </a:ext>
                </a:extLst>
              </a:tr>
              <a:tr h="59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Interpretability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Feature importance available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Black box (lower)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1100957026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Mean test R²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0.82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1.00 (+22% relative)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4050807050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Best molecule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CO / CH₄ / H₂S — R² ≈ 0.94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CH₄ / CO — R² = 1.000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814873894"/>
                  </a:ext>
                </a:extLst>
              </a:tr>
              <a:tr h="59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Worst molecule</a:t>
                      </a:r>
                    </a:p>
                  </a:txBody>
                  <a:tcPr marL="74196" marR="74196" marT="37098" marB="3709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H₂O — R² ≈ 0.49 (low-variance)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H₂ — R² ≈ 0.998 (excl. NH₃)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3900717345"/>
                  </a:ext>
                </a:extLst>
              </a:tr>
            </a:tbl>
          </a:graphicData>
        </a:graphic>
      </p:graphicFrame>
      <p:pic>
        <p:nvPicPr>
          <p:cNvPr id="87" name="Picture 86">
            <a:extLst>
              <a:ext uri="{FF2B5EF4-FFF2-40B4-BE49-F238E27FC236}">
                <a16:creationId xmlns:a16="http://schemas.microsoft.com/office/drawing/2014/main" id="{278D4745-547D-07C4-444E-69380523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933" y="1134884"/>
            <a:ext cx="6289931" cy="234230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E6E1FDE9-66C7-FF5D-DE8B-6493AF689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528" y="3810578"/>
            <a:ext cx="6324526" cy="24794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Honest assessment of what works and what doesn't —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60934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5496"/>
                </a:solidFill>
              </a:rPr>
              <a:t>Data scale vs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09928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Full INARA has 3.1M spectra. We used </a:t>
            </a:r>
            <a:r>
              <a:rPr lang="en-US" sz="1200" b="0" i="0" dirty="0">
                <a:solidFill>
                  <a:srgbClr val="1A1A2E"/>
                </a:solidFill>
              </a:rPr>
              <a:t>10k, 20k, 1</a:t>
            </a:r>
            <a:r>
              <a:rPr sz="1200" b="0" i="0" dirty="0">
                <a:solidFill>
                  <a:srgbClr val="1A1A2E"/>
                </a:solidFill>
              </a:rPr>
              <a:t>2</a:t>
            </a:r>
            <a:r>
              <a:rPr lang="en-US" sz="1200" b="0" i="0" dirty="0">
                <a:solidFill>
                  <a:srgbClr val="1A1A2E"/>
                </a:solidFill>
              </a:rPr>
              <a:t>4</a:t>
            </a:r>
            <a:r>
              <a:rPr sz="1200" b="0" i="0" dirty="0">
                <a:solidFill>
                  <a:srgbClr val="1A1A2E"/>
                </a:solidFill>
              </a:rPr>
              <a:t>k for local dev </a:t>
            </a:r>
            <a:r>
              <a:rPr sz="1200" b="0" i="0" dirty="0" err="1">
                <a:solidFill>
                  <a:srgbClr val="1A1A2E"/>
                </a:solidFill>
              </a:rPr>
              <a:t>runs</a:t>
            </a:r>
            <a:r>
              <a:rPr lang="en-US" sz="1200" b="0" i="0" dirty="0" err="1">
                <a:solidFill>
                  <a:srgbClr val="1A1A2E"/>
                </a:solidFill>
              </a:rPr>
              <a:t>as</a:t>
            </a:r>
            <a:r>
              <a:rPr lang="en-US" sz="1200" b="0" i="0" dirty="0">
                <a:solidFill>
                  <a:srgbClr val="1A1A2E"/>
                </a:solidFill>
              </a:rPr>
              <a:t> well as </a:t>
            </a:r>
            <a:r>
              <a:rPr sz="1200" b="0" i="0" dirty="0">
                <a:solidFill>
                  <a:srgbClr val="1A1A2E"/>
                </a:solidFill>
              </a:rPr>
              <a:t>on HPC (~10 GB processed). Extraction from 10 </a:t>
            </a:r>
            <a:r>
              <a:rPr sz="1200" b="0" i="0" dirty="0" err="1">
                <a:solidFill>
                  <a:srgbClr val="1A1A2E"/>
                </a:solidFill>
              </a:rPr>
              <a:t>tar.gz</a:t>
            </a:r>
            <a:r>
              <a:rPr sz="1200" b="0" i="0" dirty="0">
                <a:solidFill>
                  <a:srgbClr val="1A1A2E"/>
                </a:solidFill>
              </a:rPr>
              <a:t> archives via sequential single-pass scan takes ~10–15 min even on an M5 Pro.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60934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NH₃ — not learnable from CLIMA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0992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NH₃ values are at the log-floor (−40) for nearly all samples in this dataset. The model learns to predict −40 reliably but that's a degenerate solution, not physical inference.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953512"/>
            <a:ext cx="109728" cy="1609344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A0"/>
                </a:solidFill>
              </a:rPr>
              <a:t>H₂O R² — low-variance artefact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429000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H₂O R²=0.49 (RF) despite RMSE≈0.0001. Near-zero variance (std≈0.0002) inflates the R² denominator — RMSE is the reliable metric here. The CNN achieves R²=0.999 by tracking the tiny residual variance the RF misses.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53512"/>
            <a:ext cx="109728" cy="1609344"/>
          </a:xfrm>
          <a:prstGeom prst="rect">
            <a:avLst/>
          </a:prstGeom>
          <a:solidFill>
            <a:srgbClr val="17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486"/>
                </a:solidFill>
              </a:rPr>
              <a:t>Asymmetric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29000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The RF uses 10k training samples; the CNN uses </a:t>
            </a:r>
            <a:r>
              <a:rPr lang="en-US" sz="1200" b="0" i="0" dirty="0">
                <a:solidFill>
                  <a:srgbClr val="1A1A2E"/>
                </a:solidFill>
              </a:rPr>
              <a:t>8</a:t>
            </a:r>
            <a:r>
              <a:rPr sz="1200" b="0" i="0" dirty="0">
                <a:solidFill>
                  <a:srgbClr val="1A1A2E"/>
                </a:solidFill>
              </a:rPr>
              <a:t>7k (</a:t>
            </a:r>
            <a:r>
              <a:rPr lang="en-US" sz="1200" b="0" i="0" dirty="0">
                <a:solidFill>
                  <a:srgbClr val="1A1A2E"/>
                </a:solidFill>
              </a:rPr>
              <a:t>1</a:t>
            </a:r>
            <a:r>
              <a:rPr sz="1200" b="0" i="0" dirty="0">
                <a:solidFill>
                  <a:srgbClr val="1A1A2E"/>
                </a:solidFill>
              </a:rPr>
              <a:t>2</a:t>
            </a:r>
            <a:r>
              <a:rPr lang="en-US" sz="1200" b="0" i="0" dirty="0">
                <a:solidFill>
                  <a:srgbClr val="1A1A2E"/>
                </a:solidFill>
              </a:rPr>
              <a:t>4</a:t>
            </a:r>
            <a:r>
              <a:rPr sz="1200" b="0" i="0" dirty="0">
                <a:solidFill>
                  <a:srgbClr val="1A1A2E"/>
                </a:solidFill>
              </a:rPr>
              <a:t>k run). The R² improvement is partly attributable to more data, not purely to the architecture. A data-equal ablation would isolate the architecture contribution.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672583"/>
            <a:ext cx="109728" cy="160934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5496"/>
                </a:solidFill>
              </a:rPr>
              <a:t>NH₃ — degenerate, not learnable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NH₃ is at the log-floor (−40) for all samples. Both models predict −40 always, achieving R²=1.0 trivially. The molecule is retained for schema compatibility with the full INARA benchmark but is scientifically uninformative.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672583"/>
            <a:ext cx="109728" cy="1609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Real data validation 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All experiments are on synthetic INARA spectra. Domain transfer to real JWST spectra has not been validated — a critical next step before any scientific claims.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Extending this project toward real-world scientific applicability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609344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A0"/>
                </a:solidFill>
              </a:rPr>
              <a:t>🔭  JWST Domain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0992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Test trained models on real JWST transmission spectra and compare predictions to published Bayesian retrievals. Key validation step for scientific credibility.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60934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📊  Full 3.1M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0992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Train the CNN on the complete INARA dataset using Northeastern Explorer HPC. Expected improvement in R² for high-variance molecules like H₂O and CH₄.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953512"/>
            <a:ext cx="109728" cy="160934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5496"/>
                </a:solidFill>
              </a:rPr>
              <a:t>🧠  Uncertainty Quantification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429000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Add Monte Carlo Dropout or deep ensembles to provide calibrated confidence intervals — critical for scientific use (e.g. 'O₂ = −0.7 ± 0.2 log₁₀').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53512"/>
            <a:ext cx="109728" cy="1609344"/>
          </a:xfrm>
          <a:prstGeom prst="rect">
            <a:avLst/>
          </a:prstGeom>
          <a:solidFill>
            <a:srgbClr val="17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486"/>
                </a:solidFill>
              </a:rPr>
              <a:t>🔬  Attention / Transformer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29000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Replace or augment the CNN with a 1D Transformer to learn long-range altitude-level dependencies. Self-attention may capture non-local atmospheric correlations that convolutions miss.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672583"/>
            <a:ext cx="109728" cy="160934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5496"/>
                </a:solidFill>
              </a:rPr>
              <a:t>⚖️  Equal-Data Ablation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Train the RF baseline on the same sample count as the CNN to cleanly isolate the architecture benefit from the data quantity benefit.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672583"/>
            <a:ext cx="109728" cy="1609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🌍  Four Stellar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Stratify analysis by stellar type (F, G, K, M). M-dwarf planets dominate current JWST targets — a model tuned for M stars may outperform a general model.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62377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AABBDD"/>
                </a:solidFill>
              </a:rPr>
              <a:t>CS 6140 · Machine Learning · Northeastern University · Spring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09728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19258"/>
            <a:ext cx="457200" cy="5303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475488" y="1913879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13879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We built an end-to-end ML pipeline  for exoplanet atmospheric retrieval — from raw synthetic CLIMA profiles to per-molecule R²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44815"/>
            <a:ext cx="457200" cy="5303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475488" y="2599679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99679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Two models were compared:  Random Forest baseline (PCA + 12 independent RFs) and 1D CNN (shared backbone + 12 heads).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30615"/>
            <a:ext cx="457200" cy="5303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475488" y="3285479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85479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CNN achieves mean R² = 0.999  vs baseline 0.82 — a +22% relative improvement — 11/12 molecules retrieved near-perfectly.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16415"/>
            <a:ext cx="457200" cy="5303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475488" y="3971278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71278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 biosignatures near-perfectly retrieved:  O₂ (0.999), O₃ (0.999), CH₄ (1.000), N₂O (0.999) — directly relevant to the search for life.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02215"/>
            <a:ext cx="457200" cy="5303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475488" y="4657078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57078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ML retrieval is viable and fast:  milliseconds per planet vs. hours for Bayesian methods — enabling population-level JWST surveys.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88015"/>
            <a:ext cx="457200" cy="5303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475488" y="5342878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42878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Next step — real JWST data:  validate on actual observations and add uncertainty quantification for scientific deployment.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BBDD"/>
                </a:solidFill>
              </a:rPr>
              <a:t>Shantanu Wankhare  ·  Bhalchandra Shinde  ·  Asad Mulani   |   Dataset: INARA (NASA FDL / Zorzan et al. 2025)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1193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03244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292608" y="1158108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121532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 err="1">
                <a:solidFill>
                  <a:srgbClr val="1F3864"/>
                </a:solidFill>
              </a:rPr>
              <a:t>Zorzan</a:t>
            </a:r>
            <a:r>
              <a:rPr sz="1050" b="1" i="0" dirty="0">
                <a:solidFill>
                  <a:srgbClr val="1F3864"/>
                </a:solidFill>
              </a:rPr>
              <a:t> et al. (2025)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40988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INARA: A Machine Learning Dataset for Exoplanet Atmospheric Retrieval. NASA FDL / Exoplanet Archive.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1103244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10561320" y="1176396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15892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292608" y="1770756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3418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He et al. (2016)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953636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Deep Residual Learning for Image Recognition. CVPR 2016.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715892"/>
            <a:ext cx="256032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9485906" y="1741338"/>
            <a:ext cx="2355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555555"/>
                </a:solidFill>
              </a:rPr>
              <a:t>Background: residual connections (not used — cited for gradient flow context)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28540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292608" y="2383404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346828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Loshchilov &amp; Hutter (2019)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566284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Decoupled Weight Decay Regularisation. ICLR 2019.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328540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10561320" y="2401692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AdamW optimizer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41188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292608" y="2996052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2959476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Breiman (2001)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178932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Random Forests. Machine Learning, 45(1), 5–32.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2941188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10561320" y="3014340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Random Forest 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53836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TextBox 32"/>
          <p:cNvSpPr txBox="1"/>
          <p:nvPr/>
        </p:nvSpPr>
        <p:spPr>
          <a:xfrm>
            <a:off x="292608" y="3608699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572123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Márquez-Neila et al. (2018)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791579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Supervised machine learning for analysing spectra of exoplanetary atmospheres. Nature Astronomy.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3553836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7" name="TextBox 36"/>
          <p:cNvSpPr txBox="1"/>
          <p:nvPr/>
        </p:nvSpPr>
        <p:spPr>
          <a:xfrm>
            <a:off x="10561320" y="3626988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ML retrieval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166484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9" name="TextBox 38"/>
          <p:cNvSpPr txBox="1"/>
          <p:nvPr/>
        </p:nvSpPr>
        <p:spPr>
          <a:xfrm>
            <a:off x="292608" y="4221347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[6]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184771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Vasist et al. (2023)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404228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Neural posterior estimation for exoplanetary atmospheric retrieval. A&amp;A, 672.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0" y="4166484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3" name="TextBox 42"/>
          <p:cNvSpPr txBox="1"/>
          <p:nvPr/>
        </p:nvSpPr>
        <p:spPr>
          <a:xfrm>
            <a:off x="10561320" y="4239636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Deep learning retrieval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779132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5" name="TextBox 44"/>
          <p:cNvSpPr txBox="1"/>
          <p:nvPr/>
        </p:nvSpPr>
        <p:spPr>
          <a:xfrm>
            <a:off x="292608" y="4833996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[7]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79742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Gebhard et al. (2024)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016876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Simulation-based inference for exoplanet atmospheric retrievals. A&amp;A.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4779132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9" name="TextBox 48"/>
          <p:cNvSpPr txBox="1"/>
          <p:nvPr/>
        </p:nvSpPr>
        <p:spPr>
          <a:xfrm>
            <a:off x="10561320" y="4852284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SBI retrieval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391780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1" name="TextBox 50"/>
          <p:cNvSpPr txBox="1"/>
          <p:nvPr/>
        </p:nvSpPr>
        <p:spPr>
          <a:xfrm>
            <a:off x="292608" y="5446644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[8]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5410068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JWST ERS Team (2023)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629524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Identification of carbon dioxide in an exoplanet atmosphere. Nature 614:649.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5391780"/>
            <a:ext cx="256032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5" name="TextBox 54"/>
          <p:cNvSpPr txBox="1"/>
          <p:nvPr/>
        </p:nvSpPr>
        <p:spPr>
          <a:xfrm>
            <a:off x="9485906" y="5464932"/>
            <a:ext cx="2355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555555"/>
                </a:solidFill>
              </a:rPr>
              <a:t>WASP-39 b — first JWST exoplanet spectrum; confirmed CO₂, SO₂, H₂O, 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004428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7" name="TextBox 56"/>
          <p:cNvSpPr txBox="1"/>
          <p:nvPr/>
        </p:nvSpPr>
        <p:spPr>
          <a:xfrm>
            <a:off x="292608" y="6059292"/>
            <a:ext cx="457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[9]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6022716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</a:rPr>
              <a:t>LeCun et al. (1989)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6242172"/>
            <a:ext cx="9601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Backpropagation Applied to Handwritten Zip Code Recognition. Neural Computation.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6004428"/>
            <a:ext cx="2560320" cy="34524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1" name="TextBox 60"/>
          <p:cNvSpPr txBox="1"/>
          <p:nvPr/>
        </p:nvSpPr>
        <p:spPr>
          <a:xfrm>
            <a:off x="9416332" y="6077580"/>
            <a:ext cx="2560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555555"/>
                </a:solidFill>
              </a:rPr>
              <a:t>Foundational convolutional network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518</TotalTime>
  <Words>4394</Words>
  <Application>Microsoft Macintosh PowerPoint</Application>
  <PresentationFormat>Custom</PresentationFormat>
  <Paragraphs>493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Bhalchandra Shinde</cp:lastModifiedBy>
  <cp:revision>94</cp:revision>
  <dcterms:created xsi:type="dcterms:W3CDTF">2013-01-27T09:14:16Z</dcterms:created>
  <dcterms:modified xsi:type="dcterms:W3CDTF">2026-04-13T20:59:08Z</dcterms:modified>
  <cp:category/>
</cp:coreProperties>
</file>